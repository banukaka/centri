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CentRI is a routing control plane, not another general-purpose agent. It gives a large agent catalog a single semantic entry 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prompt-all routing can work for small catalogs, but the prompt and decision surface grow with the catalog. A classifier is fast but closed-world. Typed one-pass choices are bounded by their interface and still need discovery for very large catalogs.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design move. The catalog is transformed into reusable semantic memory when it changes. Runtime does not re-read every agent.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left-to-right. Compilation creates memory. Routing selects a destination. Learning uses production feedback to improve the routing surface.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make the pipeline concrete. The same gateway can return one or several agent destinations. The current implementation executes configured HTTP runtimes concurrently and uses an explicit simulation fallback when no endpoint is configured.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claim magical O(log N) behavior. The current index is exact Flat search and is linear. The architectural advantage is that the LLM only reasons over K candidates; production must move retrieval to ANN and benchmark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CentRI as composition, not replacement. Jev-like typed decisions can be an excellent stage-two selector, but a very large catalog still needs candidate discovery.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honesty and a clear next step. The system has the central routing skeleton. The decisive work is benchmark evidence, one real agent handoff, and production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slide visible for questions. Define the terms that are most likely unfamiliar and point to the repository and primary references.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F34"/>
        </a:solidFill>
        <a:effectLst/>
      </p:bgPr>
    </p:bg>
    <p:spTree>
      <p:nvGrpSpPr>
        <p:cNvPr id="1" name=""/>
        <p:cNvGrpSpPr/>
        <p:nvPr/>
      </p:nvGrpSpPr>
      <p:grpSpPr/>
      <p:sp>
        <p:nvSpPr>
          <p:cNvPr id="2" name="Rectangle 1"/>
          <p:cNvSpPr/>
          <p:nvPr/>
        </p:nvSpPr>
        <p:spPr>
          <a:xfrm>
            <a:off x="8869680" y="0"/>
            <a:ext cx="3319272" cy="6858000"/>
          </a:xfrm>
          <a:prstGeom prst="rect">
            <a:avLst/>
          </a:prstGeom>
          <a:solidFill>
            <a:srgbClr val="1C2F4C"/>
          </a:solidFill>
          <a:ln w="12700">
            <a:solidFill>
              <a:srgbClr val="1C2F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869680" y="0"/>
            <a:ext cx="73152" cy="6858000"/>
          </a:xfrm>
          <a:prstGeom prst="rect">
            <a:avLst/>
          </a:prstGeom>
          <a:solidFill>
            <a:srgbClr val="3077DD"/>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21792"/>
            <a:ext cx="6766560" cy="228600"/>
          </a:xfrm>
          <a:prstGeom prst="rect">
            <a:avLst/>
          </a:prstGeom>
          <a:noFill/>
        </p:spPr>
        <p:txBody>
          <a:bodyPr wrap="square" lIns="27432" rIns="27432" tIns="27432" bIns="27432" anchor="t">
            <a:spAutoFit/>
          </a:bodyPr>
          <a:lstStyle/>
          <a:p>
            <a:pPr algn="l">
              <a:spcAft>
                <a:spcPts val="200"/>
              </a:spcAft>
              <a:defRPr sz="1100" b="1">
                <a:solidFill>
                  <a:srgbClr val="E0EEFF"/>
                </a:solidFill>
                <a:latin typeface="Aptos"/>
              </a:defRPr>
            </a:pPr>
            <a:r>
              <a:t>CENTRI / CENTRAL ROUTING INTELLIGENCE</a:t>
            </a:r>
          </a:p>
        </p:txBody>
      </p:sp>
      <p:sp>
        <p:nvSpPr>
          <p:cNvPr id="5" name="TextBox 4"/>
          <p:cNvSpPr txBox="1"/>
          <p:nvPr/>
        </p:nvSpPr>
        <p:spPr>
          <a:xfrm>
            <a:off x="640080" y="1298448"/>
            <a:ext cx="7726679" cy="1965960"/>
          </a:xfrm>
          <a:prstGeom prst="rect">
            <a:avLst/>
          </a:prstGeom>
          <a:noFill/>
        </p:spPr>
        <p:txBody>
          <a:bodyPr wrap="square" lIns="27432" rIns="27432" tIns="27432" bIns="27432" anchor="t">
            <a:spAutoFit/>
          </a:bodyPr>
          <a:lstStyle/>
          <a:p>
            <a:pPr algn="l">
              <a:spcAft>
                <a:spcPts val="200"/>
              </a:spcAft>
              <a:defRPr sz="3100" b="1">
                <a:solidFill>
                  <a:srgbClr val="FFFFFF"/>
                </a:solidFill>
                <a:latin typeface="Aptos"/>
              </a:defRPr>
            </a:pPr>
            <a:r>
              <a:t>One front door.</a:t>
            </a:r>
          </a:p>
          <a:p>
            <a:pPr algn="l">
              <a:spcAft>
                <a:spcPts val="200"/>
              </a:spcAft>
              <a:defRPr sz="3100" b="1">
                <a:solidFill>
                  <a:srgbClr val="FFFFFF"/>
                </a:solidFill>
                <a:latin typeface="Aptos"/>
              </a:defRPr>
            </a:pPr>
            <a:r>
              <a:t>Thousands of agents.</a:t>
            </a:r>
          </a:p>
          <a:p>
            <a:pPr algn="l">
              <a:spcAft>
                <a:spcPts val="200"/>
              </a:spcAft>
              <a:defRPr sz="3100" b="1">
                <a:solidFill>
                  <a:srgbClr val="FFFFFF"/>
                </a:solidFill>
                <a:latin typeface="Aptos"/>
              </a:defRPr>
            </a:pPr>
            <a:r>
              <a:t>Bounded intelligence.</a:t>
            </a:r>
          </a:p>
        </p:txBody>
      </p:sp>
      <p:sp>
        <p:nvSpPr>
          <p:cNvPr id="6" name="TextBox 5"/>
          <p:cNvSpPr txBox="1"/>
          <p:nvPr/>
        </p:nvSpPr>
        <p:spPr>
          <a:xfrm>
            <a:off x="676656" y="3730752"/>
            <a:ext cx="7178040" cy="777240"/>
          </a:xfrm>
          <a:prstGeom prst="rect">
            <a:avLst/>
          </a:prstGeom>
          <a:noFill/>
        </p:spPr>
        <p:txBody>
          <a:bodyPr wrap="square" lIns="27432" rIns="27432" tIns="27432" bIns="27432" anchor="t">
            <a:spAutoFit/>
          </a:bodyPr>
          <a:lstStyle/>
          <a:p>
            <a:pPr algn="l">
              <a:spcAft>
                <a:spcPts val="200"/>
              </a:spcAft>
              <a:defRPr sz="1700" b="0">
                <a:solidFill>
                  <a:srgbClr val="CCDEF4"/>
                </a:solidFill>
                <a:latin typeface="Aptos"/>
              </a:defRPr>
            </a:pPr>
            <a:r>
              <a:t>A semantic API gateway that compiles agent capabilities offline, retrieves the right candidates at runtime, and reasons only where ambiguity remains.</a:t>
            </a:r>
          </a:p>
        </p:txBody>
      </p:sp>
      <p:sp>
        <p:nvSpPr>
          <p:cNvPr id="7" name="Rounded Rectangle 6"/>
          <p:cNvSpPr/>
          <p:nvPr/>
        </p:nvSpPr>
        <p:spPr>
          <a:xfrm>
            <a:off x="9400032" y="1115568"/>
            <a:ext cx="2148840" cy="621792"/>
          </a:xfrm>
          <a:prstGeom prst="roundRect">
            <a:avLst>
              <a:gd name="adj" fmla="val 12000"/>
            </a:avLst>
          </a:prstGeom>
          <a:solidFill>
            <a:srgbClr val="3077DD"/>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00032" y="1316736"/>
            <a:ext cx="2148840" cy="182880"/>
          </a:xfrm>
          <a:prstGeom prst="rect">
            <a:avLst/>
          </a:prstGeom>
          <a:noFill/>
        </p:spPr>
        <p:txBody>
          <a:bodyPr wrap="square" lIns="27432" rIns="27432" tIns="27432" bIns="27432" anchor="t">
            <a:spAutoFit/>
          </a:bodyPr>
          <a:lstStyle/>
          <a:p>
            <a:pPr algn="ctr">
              <a:spcAft>
                <a:spcPts val="200"/>
              </a:spcAft>
              <a:defRPr sz="1200" b="1">
                <a:solidFill>
                  <a:srgbClr val="FFFFFF"/>
                </a:solidFill>
                <a:latin typeface="Aptos"/>
              </a:defRPr>
            </a:pPr>
            <a:r>
              <a:t>USER REQUEST</a:t>
            </a:r>
          </a:p>
        </p:txBody>
      </p:sp>
      <p:cxnSp>
        <p:nvCxnSpPr>
          <p:cNvPr id="9" name="Connector 8"/>
          <p:cNvCxnSpPr/>
          <p:nvPr/>
        </p:nvCxnSpPr>
        <p:spPr>
          <a:xfrm>
            <a:off x="10469880" y="1783080"/>
            <a:ext cx="0" cy="548640"/>
          </a:xfrm>
          <a:prstGeom prst="line">
            <a:avLst/>
          </a:prstGeom>
          <a:ln w="22860">
            <a:solidFill>
              <a:srgbClr val="A8C3E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400032" y="2359152"/>
            <a:ext cx="2148840" cy="960120"/>
          </a:xfrm>
          <a:prstGeom prst="roundRect">
            <a:avLst>
              <a:gd name="adj" fmla="val 12000"/>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00032" y="2551176"/>
            <a:ext cx="2148840" cy="475488"/>
          </a:xfrm>
          <a:prstGeom prst="rect">
            <a:avLst/>
          </a:prstGeom>
          <a:noFill/>
        </p:spPr>
        <p:txBody>
          <a:bodyPr wrap="square" lIns="27432" rIns="27432" tIns="27432" bIns="27432" anchor="t">
            <a:spAutoFit/>
          </a:bodyPr>
          <a:lstStyle/>
          <a:p>
            <a:pPr algn="ctr">
              <a:spcAft>
                <a:spcPts val="200"/>
              </a:spcAft>
              <a:defRPr sz="1300" b="1">
                <a:solidFill>
                  <a:srgbClr val="FFFFFF"/>
                </a:solidFill>
                <a:latin typeface="Aptos"/>
              </a:defRPr>
            </a:pPr>
            <a:r>
              <a:t>CENTRI</a:t>
            </a:r>
          </a:p>
          <a:p>
            <a:pPr algn="ctr">
              <a:spcAft>
                <a:spcPts val="200"/>
              </a:spcAft>
              <a:defRPr sz="1300" b="1">
                <a:solidFill>
                  <a:srgbClr val="FFFFFF"/>
                </a:solidFill>
                <a:latin typeface="Aptos"/>
              </a:defRPr>
            </a:pPr>
            <a:r>
              <a:t>ROUTING PLANE</a:t>
            </a:r>
          </a:p>
        </p:txBody>
      </p:sp>
      <p:cxnSp>
        <p:nvCxnSpPr>
          <p:cNvPr id="12" name="Connector 11"/>
          <p:cNvCxnSpPr/>
          <p:nvPr/>
        </p:nvCxnSpPr>
        <p:spPr>
          <a:xfrm>
            <a:off x="10469880" y="3355848"/>
            <a:ext cx="0" cy="557784"/>
          </a:xfrm>
          <a:prstGeom prst="line">
            <a:avLst/>
          </a:prstGeom>
          <a:ln w="22860">
            <a:solidFill>
              <a:srgbClr val="A8C3E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400032" y="3941063"/>
            <a:ext cx="2148840" cy="621792"/>
          </a:xfrm>
          <a:prstGeom prst="roundRect">
            <a:avLst>
              <a:gd name="adj" fmla="val 12000"/>
            </a:avLst>
          </a:prstGeom>
          <a:solidFill>
            <a:srgbClr val="714AB9"/>
          </a:solidFill>
          <a:ln w="12700">
            <a:solidFill>
              <a:srgbClr val="714A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00032" y="4142232"/>
            <a:ext cx="2148840" cy="182880"/>
          </a:xfrm>
          <a:prstGeom prst="rect">
            <a:avLst/>
          </a:prstGeom>
          <a:noFill/>
        </p:spPr>
        <p:txBody>
          <a:bodyPr wrap="square" lIns="27432" rIns="27432" tIns="27432" bIns="27432" anchor="t">
            <a:spAutoFit/>
          </a:bodyPr>
          <a:lstStyle/>
          <a:p>
            <a:pPr algn="ctr">
              <a:spcAft>
                <a:spcPts val="200"/>
              </a:spcAft>
              <a:defRPr sz="1200" b="1">
                <a:solidFill>
                  <a:srgbClr val="FFFFFF"/>
                </a:solidFill>
                <a:latin typeface="Aptos"/>
              </a:defRPr>
            </a:pPr>
            <a:r>
              <a:t>SPECIALIST AGENT</a:t>
            </a:r>
          </a:p>
        </p:txBody>
      </p:sp>
      <p:sp>
        <p:nvSpPr>
          <p:cNvPr id="15" name="TextBox 14"/>
          <p:cNvSpPr txBox="1"/>
          <p:nvPr/>
        </p:nvSpPr>
        <p:spPr>
          <a:xfrm>
            <a:off x="685800" y="5715000"/>
            <a:ext cx="4114800" cy="228600"/>
          </a:xfrm>
          <a:prstGeom prst="rect">
            <a:avLst/>
          </a:prstGeom>
          <a:noFill/>
        </p:spPr>
        <p:txBody>
          <a:bodyPr wrap="square" lIns="27432" rIns="27432" tIns="27432" bIns="27432" anchor="t">
            <a:spAutoFit/>
          </a:bodyPr>
          <a:lstStyle/>
          <a:p>
            <a:pPr algn="l">
              <a:spcAft>
                <a:spcPts val="200"/>
              </a:spcAft>
              <a:defRPr sz="1100" b="0">
                <a:solidFill>
                  <a:srgbClr val="9DB7D4"/>
                </a:solidFill>
                <a:latin typeface="Aptos"/>
              </a:defRPr>
            </a:pPr>
            <a:r>
              <a:t>5-minute technical overview</a:t>
            </a:r>
          </a:p>
        </p:txBody>
      </p:sp>
      <p:sp>
        <p:nvSpPr>
          <p:cNvPr id="16" name="TextBox 15"/>
          <p:cNvSpPr txBox="1"/>
          <p:nvPr/>
        </p:nvSpPr>
        <p:spPr>
          <a:xfrm>
            <a:off x="9281160" y="5074920"/>
            <a:ext cx="2468880" cy="685800"/>
          </a:xfrm>
          <a:prstGeom prst="rect">
            <a:avLst/>
          </a:prstGeom>
          <a:noFill/>
        </p:spPr>
        <p:txBody>
          <a:bodyPr wrap="square" lIns="27432" rIns="27432" tIns="27432" bIns="27432" anchor="t">
            <a:spAutoFit/>
          </a:bodyPr>
          <a:lstStyle/>
          <a:p>
            <a:pPr algn="ctr">
              <a:spcAft>
                <a:spcPts val="200"/>
              </a:spcAft>
              <a:defRPr sz="1500" b="1">
                <a:solidFill>
                  <a:srgbClr val="FFFFFF"/>
                </a:solidFill>
                <a:latin typeface="Aptos"/>
              </a:defRPr>
            </a:pPr>
            <a:r>
              <a:t>The problem is not more agents.</a:t>
            </a:r>
          </a:p>
          <a:p>
            <a:pPr algn="ctr">
              <a:spcAft>
                <a:spcPts val="200"/>
              </a:spcAft>
              <a:defRPr sz="1500" b="1">
                <a:solidFill>
                  <a:srgbClr val="FFFFFF"/>
                </a:solidFill>
                <a:latin typeface="Aptos"/>
              </a:defRPr>
            </a:pPr>
            <a:r>
              <a:t>The problem is finding the right one.</a:t>
            </a:r>
          </a:p>
        </p:txBody>
      </p:sp>
      <p:cxnSp>
        <p:nvCxnSpPr>
          <p:cNvPr id="17" name="Connector 16"/>
          <p:cNvCxnSpPr/>
          <p:nvPr/>
        </p:nvCxnSpPr>
        <p:spPr>
          <a:xfrm>
            <a:off x="566928" y="6473952"/>
            <a:ext cx="11045952" cy="0"/>
          </a:xfrm>
          <a:prstGeom prst="line">
            <a:avLst/>
          </a:prstGeom>
          <a:ln>
            <a:solidFill>
              <a:srgbClr val="4B658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6528816"/>
            <a:ext cx="4754880" cy="164592"/>
          </a:xfrm>
          <a:prstGeom prst="rect">
            <a:avLst/>
          </a:prstGeom>
          <a:noFill/>
        </p:spPr>
        <p:txBody>
          <a:bodyPr wrap="square" lIns="27432" rIns="27432" tIns="27432" bIns="27432" anchor="t">
            <a:spAutoFit/>
          </a:bodyPr>
          <a:lstStyle/>
          <a:p>
            <a:pPr algn="l">
              <a:spcAft>
                <a:spcPts val="200"/>
              </a:spcAft>
              <a:defRPr sz="750" b="1">
                <a:solidFill>
                  <a:srgbClr val="B8CAE0"/>
                </a:solidFill>
                <a:latin typeface="Aptos"/>
              </a:defRPr>
            </a:pPr>
            <a:r>
              <a:t>CENTRI  /  CENTRAL ROUTING INTELLIGENCE</a:t>
            </a:r>
          </a:p>
        </p:txBody>
      </p:sp>
      <p:sp>
        <p:nvSpPr>
          <p:cNvPr id="19" name="TextBox 18"/>
          <p:cNvSpPr txBox="1"/>
          <p:nvPr/>
        </p:nvSpPr>
        <p:spPr>
          <a:xfrm>
            <a:off x="5074920" y="6528816"/>
            <a:ext cx="6126480" cy="164592"/>
          </a:xfrm>
          <a:prstGeom prst="rect">
            <a:avLst/>
          </a:prstGeom>
          <a:noFill/>
        </p:spPr>
        <p:txBody>
          <a:bodyPr wrap="square" lIns="27432" rIns="27432" tIns="27432" bIns="27432" anchor="t">
            <a:spAutoFit/>
          </a:bodyPr>
          <a:lstStyle/>
          <a:p>
            <a:pPr algn="r">
              <a:spcAft>
                <a:spcPts val="200"/>
              </a:spcAft>
              <a:defRPr sz="720" b="0">
                <a:solidFill>
                  <a:srgbClr val="B8CAE0"/>
                </a:solidFill>
                <a:latin typeface="Aptos"/>
              </a:defRPr>
            </a:pPr>
            <a:r>
              <a:t>Architecture proposal · current repository PoC</a:t>
            </a:r>
          </a:p>
        </p:txBody>
      </p:sp>
      <p:sp>
        <p:nvSpPr>
          <p:cNvPr id="20" name="TextBox 19"/>
          <p:cNvSpPr txBox="1"/>
          <p:nvPr/>
        </p:nvSpPr>
        <p:spPr>
          <a:xfrm>
            <a:off x="11356848" y="6501384"/>
            <a:ext cx="274320" cy="182880"/>
          </a:xfrm>
          <a:prstGeom prst="rect">
            <a:avLst/>
          </a:prstGeom>
          <a:noFill/>
        </p:spPr>
        <p:txBody>
          <a:bodyPr wrap="square" lIns="27432" rIns="27432" tIns="27432" bIns="27432" anchor="t">
            <a:spAutoFit/>
          </a:bodyPr>
          <a:lstStyle/>
          <a:p>
            <a:pPr algn="r">
              <a:spcAft>
                <a:spcPts val="200"/>
              </a:spcAft>
              <a:defRPr sz="800" b="1">
                <a:solidFill>
                  <a:srgbClr val="B8CAE0"/>
                </a:solidFill>
                <a:latin typeface="Apto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TextBox 1"/>
          <p:cNvSpPr txBox="1"/>
          <p:nvPr/>
        </p:nvSpPr>
        <p:spPr>
          <a:xfrm>
            <a:off x="566928" y="310896"/>
            <a:ext cx="4114800" cy="228600"/>
          </a:xfrm>
          <a:prstGeom prst="rect">
            <a:avLst/>
          </a:prstGeom>
          <a:noFill/>
        </p:spPr>
        <p:txBody>
          <a:bodyPr wrap="square" lIns="27432" rIns="27432" tIns="27432" bIns="27432" anchor="t">
            <a:spAutoFit/>
          </a:bodyPr>
          <a:lstStyle/>
          <a:p>
            <a:pPr algn="l">
              <a:spcAft>
                <a:spcPts val="200"/>
              </a:spcAft>
              <a:defRPr sz="900" b="1">
                <a:solidFill>
                  <a:srgbClr val="3077DD"/>
                </a:solidFill>
                <a:latin typeface="Aptos"/>
              </a:defRPr>
            </a:pPr>
            <a:r>
              <a:t>THE PROBLEM</a:t>
            </a:r>
          </a:p>
        </p:txBody>
      </p:sp>
      <p:sp>
        <p:nvSpPr>
          <p:cNvPr id="3" name="TextBox 2"/>
          <p:cNvSpPr txBox="1"/>
          <p:nvPr/>
        </p:nvSpPr>
        <p:spPr>
          <a:xfrm>
            <a:off x="566928" y="594360"/>
            <a:ext cx="10881360" cy="502920"/>
          </a:xfrm>
          <a:prstGeom prst="rect">
            <a:avLst/>
          </a:prstGeom>
          <a:noFill/>
        </p:spPr>
        <p:txBody>
          <a:bodyPr wrap="square" lIns="27432" rIns="27432" tIns="27432" bIns="27432" anchor="t">
            <a:spAutoFit/>
          </a:bodyPr>
          <a:lstStyle/>
          <a:p>
            <a:pPr algn="l">
              <a:spcAft>
                <a:spcPts val="200"/>
              </a:spcAft>
              <a:defRPr sz="2600" b="1">
                <a:solidFill>
                  <a:srgbClr val="121F34"/>
                </a:solidFill>
                <a:latin typeface="Aptos"/>
              </a:defRPr>
            </a:pPr>
            <a:r>
              <a:t>Agent choice becomes the bottleneck</a:t>
            </a:r>
          </a:p>
        </p:txBody>
      </p:sp>
      <p:sp>
        <p:nvSpPr>
          <p:cNvPr id="4" name="TextBox 3"/>
          <p:cNvSpPr txBox="1"/>
          <p:nvPr/>
        </p:nvSpPr>
        <p:spPr>
          <a:xfrm>
            <a:off x="594360" y="1143000"/>
            <a:ext cx="10881360" cy="329184"/>
          </a:xfrm>
          <a:prstGeom prst="rect">
            <a:avLst/>
          </a:prstGeom>
          <a:noFill/>
        </p:spPr>
        <p:txBody>
          <a:bodyPr wrap="square" lIns="27432" rIns="27432" tIns="27432" bIns="27432" anchor="t">
            <a:spAutoFit/>
          </a:bodyPr>
          <a:lstStyle/>
          <a:p>
            <a:pPr algn="l">
              <a:spcAft>
                <a:spcPts val="200"/>
              </a:spcAft>
              <a:defRPr sz="1200" b="0">
                <a:solidFill>
                  <a:srgbClr val="60748C"/>
                </a:solidFill>
                <a:latin typeface="Aptos"/>
              </a:defRPr>
            </a:pPr>
            <a:r>
              <a:t>As agent catalogs grow, naive routing grows in the wrong dimension.</a:t>
            </a:r>
          </a:p>
        </p:txBody>
      </p:sp>
      <p:sp>
        <p:nvSpPr>
          <p:cNvPr id="5" name="Rounded Rectangle 4"/>
          <p:cNvSpPr/>
          <p:nvPr/>
        </p:nvSpPr>
        <p:spPr>
          <a:xfrm>
            <a:off x="658368" y="1691640"/>
            <a:ext cx="3429000" cy="3246120"/>
          </a:xfrm>
          <a:prstGeom prst="roundRect">
            <a:avLst>
              <a:gd name="adj" fmla="val 12000"/>
            </a:avLst>
          </a:prstGeom>
          <a:solidFill>
            <a:srgbClr val="FFE6E6"/>
          </a:solidFill>
          <a:ln w="12700">
            <a:solidFill>
              <a:srgbClr val="BE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91640"/>
            <a:ext cx="64008" cy="3246120"/>
          </a:xfrm>
          <a:prstGeom prst="rect">
            <a:avLst/>
          </a:prstGeom>
          <a:solidFill>
            <a:srgbClr val="BE3434"/>
          </a:solidFill>
          <a:ln w="12700">
            <a:solidFill>
              <a:srgbClr val="BE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819656"/>
            <a:ext cx="3108960" cy="320040"/>
          </a:xfrm>
          <a:prstGeom prst="rect">
            <a:avLst/>
          </a:prstGeom>
          <a:noFill/>
        </p:spPr>
        <p:txBody>
          <a:bodyPr wrap="square" lIns="27432" rIns="27432" tIns="27432" bIns="27432" anchor="t">
            <a:spAutoFit/>
          </a:bodyPr>
          <a:lstStyle/>
          <a:p>
            <a:pPr algn="l">
              <a:spcAft>
                <a:spcPts val="200"/>
              </a:spcAft>
              <a:defRPr sz="1400" b="1">
                <a:solidFill>
                  <a:srgbClr val="BE3434"/>
                </a:solidFill>
                <a:latin typeface="Aptos"/>
              </a:defRPr>
            </a:pPr>
            <a:r>
              <a:t>PROMPT-ALL LLM ROUTING</a:t>
            </a:r>
          </a:p>
        </p:txBody>
      </p:sp>
      <p:sp>
        <p:nvSpPr>
          <p:cNvPr id="8" name="TextBox 7"/>
          <p:cNvSpPr txBox="1"/>
          <p:nvPr/>
        </p:nvSpPr>
        <p:spPr>
          <a:xfrm>
            <a:off x="841247" y="2194560"/>
            <a:ext cx="3108960" cy="2624327"/>
          </a:xfrm>
          <a:prstGeom prst="rect">
            <a:avLst/>
          </a:prstGeom>
          <a:noFill/>
        </p:spPr>
        <p:txBody>
          <a:bodyPr wrap="square" lIns="27432" rIns="27432" tIns="27432" bIns="27432" anchor="t">
            <a:spAutoFit/>
          </a:bodyPr>
          <a:lstStyle/>
          <a:p>
            <a:pPr algn="l">
              <a:spcAft>
                <a:spcPts val="200"/>
              </a:spcAft>
              <a:defRPr sz="1400" b="0">
                <a:solidFill>
                  <a:srgbClr val="203047"/>
                </a:solidFill>
                <a:latin typeface="Aptos"/>
              </a:defRPr>
            </a:pPr>
            <a:r>
              <a:t>Every request includes:</a:t>
            </a:r>
          </a:p>
          <a:p>
            <a:pPr algn="l">
              <a:spcAft>
                <a:spcPts val="200"/>
              </a:spcAft>
              <a:defRPr sz="1400" b="0">
                <a:solidFill>
                  <a:srgbClr val="203047"/>
                </a:solidFill>
                <a:latin typeface="Aptos"/>
              </a:defRPr>
            </a:pPr>
            <a:r>
              <a:t>• many agent descriptions</a:t>
            </a:r>
          </a:p>
          <a:p>
            <a:pPr algn="l">
              <a:spcAft>
                <a:spcPts val="200"/>
              </a:spcAft>
              <a:defRPr sz="1400" b="0">
                <a:solidFill>
                  <a:srgbClr val="203047"/>
                </a:solidFill>
                <a:latin typeface="Aptos"/>
              </a:defRPr>
            </a:pPr>
            <a:r>
              <a:t>• tools, exclusions, policies</a:t>
            </a:r>
          </a:p>
          <a:p>
            <a:pPr algn="l">
              <a:spcAft>
                <a:spcPts val="200"/>
              </a:spcAft>
              <a:defRPr sz="1400" b="0">
                <a:solidFill>
                  <a:srgbClr val="203047"/>
                </a:solidFill>
                <a:latin typeface="Aptos"/>
              </a:defRPr>
            </a:pPr>
            <a:r>
              <a:t>• growing prompt tokens</a:t>
            </a:r>
          </a:p>
          <a:p>
            <a:pPr algn="l">
              <a:spcAft>
                <a:spcPts val="200"/>
              </a:spcAft>
              <a:defRPr sz="1400" b="0">
                <a:solidFill>
                  <a:srgbClr val="203047"/>
                </a:solidFill>
                <a:latin typeface="Aptos"/>
              </a:defRPr>
            </a:pPr>
          </a:p>
          <a:p>
            <a:pPr algn="l">
              <a:spcAft>
                <a:spcPts val="200"/>
              </a:spcAft>
              <a:defRPr sz="1400" b="0">
                <a:solidFill>
                  <a:srgbClr val="203047"/>
                </a:solidFill>
                <a:latin typeface="Aptos"/>
              </a:defRPr>
            </a:pPr>
            <a:r>
              <a:t>The model spends reasoning budget scanning irrelevant candidates.</a:t>
            </a:r>
          </a:p>
        </p:txBody>
      </p:sp>
      <p:sp>
        <p:nvSpPr>
          <p:cNvPr id="9" name="Rounded Rectangle 8"/>
          <p:cNvSpPr/>
          <p:nvPr/>
        </p:nvSpPr>
        <p:spPr>
          <a:xfrm>
            <a:off x="4370832" y="1691640"/>
            <a:ext cx="3429000" cy="3246120"/>
          </a:xfrm>
          <a:prstGeom prst="roundRect">
            <a:avLst>
              <a:gd name="adj" fmla="val 12000"/>
            </a:avLst>
          </a:prstGeom>
          <a:solidFill>
            <a:srgbClr val="FFF4D3"/>
          </a:solidFill>
          <a:ln w="12700">
            <a:solidFill>
              <a:srgbClr val="BE73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691640"/>
            <a:ext cx="64008" cy="3246120"/>
          </a:xfrm>
          <a:prstGeom prst="rect">
            <a:avLst/>
          </a:prstGeom>
          <a:solidFill>
            <a:srgbClr val="BE730C"/>
          </a:solidFill>
          <a:ln w="12700">
            <a:solidFill>
              <a:srgbClr val="BE73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819656"/>
            <a:ext cx="3108960" cy="320040"/>
          </a:xfrm>
          <a:prstGeom prst="rect">
            <a:avLst/>
          </a:prstGeom>
          <a:noFill/>
        </p:spPr>
        <p:txBody>
          <a:bodyPr wrap="square" lIns="27432" rIns="27432" tIns="27432" bIns="27432" anchor="t">
            <a:spAutoFit/>
          </a:bodyPr>
          <a:lstStyle/>
          <a:p>
            <a:pPr algn="l">
              <a:spcAft>
                <a:spcPts val="200"/>
              </a:spcAft>
              <a:defRPr sz="1400" b="1">
                <a:solidFill>
                  <a:srgbClr val="BE730C"/>
                </a:solidFill>
                <a:latin typeface="Aptos"/>
              </a:defRPr>
            </a:pPr>
            <a:r>
              <a:t>FLAT CLASSIFIER</a:t>
            </a:r>
          </a:p>
        </p:txBody>
      </p:sp>
      <p:sp>
        <p:nvSpPr>
          <p:cNvPr id="12" name="TextBox 11"/>
          <p:cNvSpPr txBox="1"/>
          <p:nvPr/>
        </p:nvSpPr>
        <p:spPr>
          <a:xfrm>
            <a:off x="4553712" y="2194560"/>
            <a:ext cx="3108960" cy="2624327"/>
          </a:xfrm>
          <a:prstGeom prst="rect">
            <a:avLst/>
          </a:prstGeom>
          <a:noFill/>
        </p:spPr>
        <p:txBody>
          <a:bodyPr wrap="square" lIns="27432" rIns="27432" tIns="27432" bIns="27432" anchor="t">
            <a:spAutoFit/>
          </a:bodyPr>
          <a:lstStyle/>
          <a:p>
            <a:pPr algn="l">
              <a:spcAft>
                <a:spcPts val="200"/>
              </a:spcAft>
              <a:defRPr sz="1400" b="0">
                <a:solidFill>
                  <a:srgbClr val="203047"/>
                </a:solidFill>
                <a:latin typeface="Aptos"/>
              </a:defRPr>
            </a:pPr>
            <a:r>
              <a:t>Fast after training, but:</a:t>
            </a:r>
          </a:p>
          <a:p>
            <a:pPr algn="l">
              <a:spcAft>
                <a:spcPts val="200"/>
              </a:spcAft>
              <a:defRPr sz="1400" b="0">
                <a:solidFill>
                  <a:srgbClr val="203047"/>
                </a:solidFill>
                <a:latin typeface="Aptos"/>
              </a:defRPr>
            </a:pPr>
            <a:r>
              <a:t>• labels are closed-world</a:t>
            </a:r>
          </a:p>
          <a:p>
            <a:pPr algn="l">
              <a:spcAft>
                <a:spcPts val="200"/>
              </a:spcAft>
              <a:defRPr sz="1400" b="0">
                <a:solidFill>
                  <a:srgbClr val="203047"/>
                </a:solidFill>
                <a:latin typeface="Aptos"/>
              </a:defRPr>
            </a:pPr>
            <a:r>
              <a:t>• new agents require retraining</a:t>
            </a:r>
          </a:p>
          <a:p>
            <a:pPr algn="l">
              <a:spcAft>
                <a:spcPts val="200"/>
              </a:spcAft>
              <a:defRPr sz="1400" b="0">
                <a:solidFill>
                  <a:srgbClr val="203047"/>
                </a:solidFill>
                <a:latin typeface="Aptos"/>
              </a:defRPr>
            </a:pPr>
            <a:r>
              <a:t>• compound requests are awkward</a:t>
            </a:r>
          </a:p>
          <a:p>
            <a:pPr algn="l">
              <a:spcAft>
                <a:spcPts val="200"/>
              </a:spcAft>
              <a:defRPr sz="1400" b="0">
                <a:solidFill>
                  <a:srgbClr val="203047"/>
                </a:solidFill>
                <a:latin typeface="Aptos"/>
              </a:defRPr>
            </a:pPr>
            <a:r>
              <a:t>• long-tail coverage is fragile</a:t>
            </a:r>
          </a:p>
        </p:txBody>
      </p:sp>
      <p:sp>
        <p:nvSpPr>
          <p:cNvPr id="13" name="Rounded Rectangle 12"/>
          <p:cNvSpPr/>
          <p:nvPr/>
        </p:nvSpPr>
        <p:spPr>
          <a:xfrm>
            <a:off x="8083296" y="1691640"/>
            <a:ext cx="3429000" cy="3246120"/>
          </a:xfrm>
          <a:prstGeom prst="roundRect">
            <a:avLst>
              <a:gd name="adj" fmla="val 12000"/>
            </a:avLst>
          </a:prstGeom>
          <a:solidFill>
            <a:srgbClr val="EFE9FD"/>
          </a:solidFill>
          <a:ln w="12700">
            <a:solidFill>
              <a:srgbClr val="714A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83296" y="1691640"/>
            <a:ext cx="64008" cy="3246120"/>
          </a:xfrm>
          <a:prstGeom prst="rect">
            <a:avLst/>
          </a:prstGeom>
          <a:solidFill>
            <a:srgbClr val="714AB9"/>
          </a:solidFill>
          <a:ln w="12700">
            <a:solidFill>
              <a:srgbClr val="714A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6175" y="1819656"/>
            <a:ext cx="3108960" cy="320040"/>
          </a:xfrm>
          <a:prstGeom prst="rect">
            <a:avLst/>
          </a:prstGeom>
          <a:noFill/>
        </p:spPr>
        <p:txBody>
          <a:bodyPr wrap="square" lIns="27432" rIns="27432" tIns="27432" bIns="27432" anchor="t">
            <a:spAutoFit/>
          </a:bodyPr>
          <a:lstStyle/>
          <a:p>
            <a:pPr algn="l">
              <a:spcAft>
                <a:spcPts val="200"/>
              </a:spcAft>
              <a:defRPr sz="1400" b="1">
                <a:solidFill>
                  <a:srgbClr val="714AB9"/>
                </a:solidFill>
                <a:latin typeface="Aptos"/>
              </a:defRPr>
            </a:pPr>
            <a:r>
              <a:t>SINGLE-PASS CHOICE</a:t>
            </a:r>
          </a:p>
        </p:txBody>
      </p:sp>
      <p:sp>
        <p:nvSpPr>
          <p:cNvPr id="16" name="TextBox 15"/>
          <p:cNvSpPr txBox="1"/>
          <p:nvPr/>
        </p:nvSpPr>
        <p:spPr>
          <a:xfrm>
            <a:off x="8266175" y="2194560"/>
            <a:ext cx="3108960" cy="2624327"/>
          </a:xfrm>
          <a:prstGeom prst="rect">
            <a:avLst/>
          </a:prstGeom>
          <a:noFill/>
        </p:spPr>
        <p:txBody>
          <a:bodyPr wrap="square" lIns="27432" rIns="27432" tIns="27432" bIns="27432" anchor="t">
            <a:spAutoFit/>
          </a:bodyPr>
          <a:lstStyle/>
          <a:p>
            <a:pPr algn="l">
              <a:spcAft>
                <a:spcPts val="200"/>
              </a:spcAft>
              <a:defRPr sz="1400" b="0">
                <a:solidFill>
                  <a:srgbClr val="203047"/>
                </a:solidFill>
                <a:latin typeface="Aptos"/>
              </a:defRPr>
            </a:pPr>
            <a:r>
              <a:t>Typed decision engines are excellent for a bounded choice set.</a:t>
            </a:r>
          </a:p>
          <a:p>
            <a:pPr algn="l">
              <a:spcAft>
                <a:spcPts val="200"/>
              </a:spcAft>
              <a:defRPr sz="1400" b="0">
                <a:solidFill>
                  <a:srgbClr val="203047"/>
                </a:solidFill>
                <a:latin typeface="Aptos"/>
              </a:defRPr>
            </a:pPr>
          </a:p>
          <a:p>
            <a:pPr algn="l">
              <a:spcAft>
                <a:spcPts val="200"/>
              </a:spcAft>
              <a:defRPr sz="1400" b="0">
                <a:solidFill>
                  <a:srgbClr val="203047"/>
                </a:solidFill>
                <a:latin typeface="Aptos"/>
              </a:defRPr>
            </a:pPr>
            <a:r>
              <a:t>But a large or changing catalog still needs candidate discovery before choice.</a:t>
            </a:r>
          </a:p>
        </p:txBody>
      </p:sp>
      <p:sp>
        <p:nvSpPr>
          <p:cNvPr id="17" name="Rounded Rectangle 16"/>
          <p:cNvSpPr/>
          <p:nvPr/>
        </p:nvSpPr>
        <p:spPr>
          <a:xfrm>
            <a:off x="914400" y="5349240"/>
            <a:ext cx="10287000" cy="640080"/>
          </a:xfrm>
          <a:prstGeom prst="roundRect">
            <a:avLst>
              <a:gd name="adj" fmla="val 12000"/>
            </a:avLst>
          </a:prstGeom>
          <a:solidFill>
            <a:srgbClr val="121F34"/>
          </a:solidFill>
          <a:ln w="12700">
            <a:solidFill>
              <a:srgbClr val="121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5522976"/>
            <a:ext cx="9829800" cy="256032"/>
          </a:xfrm>
          <a:prstGeom prst="rect">
            <a:avLst/>
          </a:prstGeom>
          <a:noFill/>
        </p:spPr>
        <p:txBody>
          <a:bodyPr wrap="square" lIns="27432" rIns="27432">
            <a:spAutoFit/>
          </a:bodyPr>
          <a:lstStyle/>
          <a:p>
            <a:r>
              <a:rPr sz="1500" b="1">
                <a:solidFill>
                  <a:srgbClr val="FFFFFF"/>
                </a:solidFill>
                <a:latin typeface="Aptos"/>
              </a:rPr>
              <a:t>The scaling question: </a:t>
            </a:r>
            <a:r>
              <a:rPr sz="1500" b="0">
                <a:solidFill>
                  <a:srgbClr val="E0EEFF"/>
                </a:solidFill>
                <a:latin typeface="Aptos"/>
              </a:rPr>
              <a:t>how do we keep routing cost and ambiguity bounded while the agent catalog expands?</a:t>
            </a:r>
          </a:p>
        </p:txBody>
      </p:sp>
      <p:cxnSp>
        <p:nvCxnSpPr>
          <p:cNvPr id="19" name="Connector 18"/>
          <p:cNvCxnSpPr/>
          <p:nvPr/>
        </p:nvCxnSpPr>
        <p:spPr>
          <a:xfrm>
            <a:off x="566928" y="6473952"/>
            <a:ext cx="11045952" cy="0"/>
          </a:xfrm>
          <a:prstGeom prst="line">
            <a:avLst/>
          </a:prstGeom>
          <a:ln>
            <a:solidFill>
              <a:srgbClr val="CCD8E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94360" y="6528816"/>
            <a:ext cx="4754880" cy="164592"/>
          </a:xfrm>
          <a:prstGeom prst="rect">
            <a:avLst/>
          </a:prstGeom>
          <a:noFill/>
        </p:spPr>
        <p:txBody>
          <a:bodyPr wrap="square" lIns="27432" rIns="27432" tIns="27432" bIns="27432" anchor="t">
            <a:spAutoFit/>
          </a:bodyPr>
          <a:lstStyle/>
          <a:p>
            <a:pPr algn="l">
              <a:spcAft>
                <a:spcPts val="200"/>
              </a:spcAft>
              <a:defRPr sz="750" b="1">
                <a:solidFill>
                  <a:srgbClr val="60748C"/>
                </a:solidFill>
                <a:latin typeface="Aptos"/>
              </a:defRPr>
            </a:pPr>
            <a:r>
              <a:t>CENTRI  /  CENTRAL ROUTING INTELLIGENCE</a:t>
            </a:r>
          </a:p>
        </p:txBody>
      </p:sp>
      <p:sp>
        <p:nvSpPr>
          <p:cNvPr id="21" name="TextBox 20"/>
          <p:cNvSpPr txBox="1"/>
          <p:nvPr/>
        </p:nvSpPr>
        <p:spPr>
          <a:xfrm>
            <a:off x="5074920" y="6528816"/>
            <a:ext cx="6126480" cy="164592"/>
          </a:xfrm>
          <a:prstGeom prst="rect">
            <a:avLst/>
          </a:prstGeom>
          <a:noFill/>
        </p:spPr>
        <p:txBody>
          <a:bodyPr wrap="square" lIns="27432" rIns="27432" tIns="27432" bIns="27432" anchor="t">
            <a:spAutoFit/>
          </a:bodyPr>
          <a:lstStyle/>
          <a:p>
            <a:pPr algn="r">
              <a:spcAft>
                <a:spcPts val="200"/>
              </a:spcAft>
              <a:defRPr sz="720" b="0">
                <a:solidFill>
                  <a:srgbClr val="60748C"/>
                </a:solidFill>
                <a:latin typeface="Aptos"/>
              </a:defRPr>
            </a:pPr>
            <a:r>
              <a:t>Design hypothesis; benchmark against real catalog sizes</a:t>
            </a:r>
          </a:p>
        </p:txBody>
      </p:sp>
      <p:sp>
        <p:nvSpPr>
          <p:cNvPr id="22" name="TextBox 21"/>
          <p:cNvSpPr txBox="1"/>
          <p:nvPr/>
        </p:nvSpPr>
        <p:spPr>
          <a:xfrm>
            <a:off x="11356848" y="6501384"/>
            <a:ext cx="274320" cy="182880"/>
          </a:xfrm>
          <a:prstGeom prst="rect">
            <a:avLst/>
          </a:prstGeom>
          <a:noFill/>
        </p:spPr>
        <p:txBody>
          <a:bodyPr wrap="square" lIns="27432" rIns="27432" tIns="27432" bIns="27432" anchor="t">
            <a:spAutoFit/>
          </a:bodyPr>
          <a:lstStyle/>
          <a:p>
            <a:pPr algn="r">
              <a:spcAft>
                <a:spcPts val="200"/>
              </a:spcAft>
              <a:defRPr sz="800" b="1">
                <a:solidFill>
                  <a:srgbClr val="60748C"/>
                </a:solidFill>
                <a:latin typeface="Apto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10896"/>
            <a:ext cx="4114800" cy="228600"/>
          </a:xfrm>
          <a:prstGeom prst="rect">
            <a:avLst/>
          </a:prstGeom>
          <a:noFill/>
        </p:spPr>
        <p:txBody>
          <a:bodyPr wrap="square" lIns="27432" rIns="27432" tIns="27432" bIns="27432" anchor="t">
            <a:spAutoFit/>
          </a:bodyPr>
          <a:lstStyle/>
          <a:p>
            <a:pPr algn="l">
              <a:spcAft>
                <a:spcPts val="200"/>
              </a:spcAft>
              <a:defRPr sz="900" b="1">
                <a:solidFill>
                  <a:srgbClr val="3077DD"/>
                </a:solidFill>
                <a:latin typeface="Aptos"/>
              </a:defRPr>
            </a:pPr>
            <a:r>
              <a:t>THE CORE INNOVATION</a:t>
            </a:r>
          </a:p>
        </p:txBody>
      </p:sp>
      <p:sp>
        <p:nvSpPr>
          <p:cNvPr id="3" name="TextBox 2"/>
          <p:cNvSpPr txBox="1"/>
          <p:nvPr/>
        </p:nvSpPr>
        <p:spPr>
          <a:xfrm>
            <a:off x="566928" y="594360"/>
            <a:ext cx="10881360" cy="502920"/>
          </a:xfrm>
          <a:prstGeom prst="rect">
            <a:avLst/>
          </a:prstGeom>
          <a:noFill/>
        </p:spPr>
        <p:txBody>
          <a:bodyPr wrap="square" lIns="27432" rIns="27432" tIns="27432" bIns="27432" anchor="t">
            <a:spAutoFit/>
          </a:bodyPr>
          <a:lstStyle/>
          <a:p>
            <a:pPr algn="l">
              <a:spcAft>
                <a:spcPts val="200"/>
              </a:spcAft>
              <a:defRPr sz="2600" b="1">
                <a:solidFill>
                  <a:srgbClr val="121F34"/>
                </a:solidFill>
                <a:latin typeface="Aptos"/>
              </a:defRPr>
            </a:pPr>
            <a:r>
              <a:t>Compile the catalog once; route against memory</a:t>
            </a:r>
          </a:p>
        </p:txBody>
      </p:sp>
      <p:sp>
        <p:nvSpPr>
          <p:cNvPr id="4" name="TextBox 3"/>
          <p:cNvSpPr txBox="1"/>
          <p:nvPr/>
        </p:nvSpPr>
        <p:spPr>
          <a:xfrm>
            <a:off x="594360" y="1143000"/>
            <a:ext cx="10881360" cy="329184"/>
          </a:xfrm>
          <a:prstGeom prst="rect">
            <a:avLst/>
          </a:prstGeom>
          <a:noFill/>
        </p:spPr>
        <p:txBody>
          <a:bodyPr wrap="square" lIns="27432" rIns="27432" tIns="27432" bIns="27432" anchor="t">
            <a:spAutoFit/>
          </a:bodyPr>
          <a:lstStyle/>
          <a:p>
            <a:pPr algn="l">
              <a:spcAft>
                <a:spcPts val="200"/>
              </a:spcAft>
              <a:defRPr sz="1200" b="0">
                <a:solidFill>
                  <a:srgbClr val="60748C"/>
                </a:solidFill>
                <a:latin typeface="Aptos"/>
              </a:defRPr>
            </a:pPr>
            <a:r>
              <a:t>CentRI separates slow knowledge preparation from fast request-time selection.</a:t>
            </a:r>
          </a:p>
        </p:txBody>
      </p:sp>
      <p:sp>
        <p:nvSpPr>
          <p:cNvPr id="5" name="Rounded Rectangle 4"/>
          <p:cNvSpPr/>
          <p:nvPr/>
        </p:nvSpPr>
        <p:spPr>
          <a:xfrm>
            <a:off x="658368" y="1627632"/>
            <a:ext cx="5230368" cy="4160520"/>
          </a:xfrm>
          <a:prstGeom prst="roundRect">
            <a:avLst>
              <a:gd name="adj" fmla="val 12000"/>
            </a:avLst>
          </a:prstGeom>
          <a:solidFill>
            <a:srgbClr val="E0EEFF"/>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74519"/>
            <a:ext cx="2834640" cy="228600"/>
          </a:xfrm>
          <a:prstGeom prst="rect">
            <a:avLst/>
          </a:prstGeom>
          <a:noFill/>
        </p:spPr>
        <p:txBody>
          <a:bodyPr wrap="square" lIns="27432" rIns="27432" tIns="27432" bIns="27432" anchor="t">
            <a:spAutoFit/>
          </a:bodyPr>
          <a:lstStyle/>
          <a:p>
            <a:pPr algn="l">
              <a:spcAft>
                <a:spcPts val="200"/>
              </a:spcAft>
              <a:defRPr sz="1100" b="1">
                <a:solidFill>
                  <a:srgbClr val="3077DD"/>
                </a:solidFill>
                <a:latin typeface="Aptos"/>
              </a:defRPr>
            </a:pPr>
            <a:r>
              <a:t>OFFLINE / CHANGE-TIME</a:t>
            </a:r>
          </a:p>
        </p:txBody>
      </p:sp>
      <p:sp>
        <p:nvSpPr>
          <p:cNvPr id="7" name="TextBox 6"/>
          <p:cNvSpPr txBox="1"/>
          <p:nvPr/>
        </p:nvSpPr>
        <p:spPr>
          <a:xfrm>
            <a:off x="914400" y="2331720"/>
            <a:ext cx="4297680" cy="1417320"/>
          </a:xfrm>
          <a:prstGeom prst="rect">
            <a:avLst/>
          </a:prstGeom>
          <a:noFill/>
        </p:spPr>
        <p:txBody>
          <a:bodyPr wrap="square" lIns="27432" rIns="27432" tIns="27432" bIns="27432" anchor="t">
            <a:spAutoFit/>
          </a:bodyPr>
          <a:lstStyle/>
          <a:p>
            <a:pPr algn="l">
              <a:spcAft>
                <a:spcPts val="200"/>
              </a:spcAft>
              <a:defRPr sz="2500" b="1">
                <a:solidFill>
                  <a:srgbClr val="121F34"/>
                </a:solidFill>
                <a:latin typeface="Aptos"/>
              </a:defRPr>
            </a:pPr>
            <a:r>
              <a:t>Agent schema</a:t>
            </a:r>
          </a:p>
          <a:p>
            <a:pPr algn="l">
              <a:spcAft>
                <a:spcPts val="200"/>
              </a:spcAft>
              <a:defRPr sz="2500" b="1">
                <a:solidFill>
                  <a:srgbClr val="121F34"/>
                </a:solidFill>
                <a:latin typeface="Aptos"/>
              </a:defRPr>
            </a:pPr>
            <a:r>
              <a:t>→ synthetic utterances</a:t>
            </a:r>
          </a:p>
          <a:p>
            <a:pPr algn="l">
              <a:spcAft>
                <a:spcPts val="200"/>
              </a:spcAft>
              <a:defRPr sz="2500" b="1">
                <a:solidFill>
                  <a:srgbClr val="121F34"/>
                </a:solidFill>
                <a:latin typeface="Aptos"/>
              </a:defRPr>
            </a:pPr>
            <a:r>
              <a:t>→ embeddings</a:t>
            </a:r>
          </a:p>
          <a:p>
            <a:pPr algn="l">
              <a:spcAft>
                <a:spcPts val="200"/>
              </a:spcAft>
              <a:defRPr sz="2500" b="1">
                <a:solidFill>
                  <a:srgbClr val="121F34"/>
                </a:solidFill>
                <a:latin typeface="Aptos"/>
              </a:defRPr>
            </a:pPr>
            <a:r>
              <a:t>→ vector index</a:t>
            </a:r>
          </a:p>
        </p:txBody>
      </p:sp>
      <p:sp>
        <p:nvSpPr>
          <p:cNvPr id="8" name="Oval 7"/>
          <p:cNvSpPr/>
          <p:nvPr/>
        </p:nvSpPr>
        <p:spPr>
          <a:xfrm>
            <a:off x="914400" y="4142232"/>
            <a:ext cx="82296" cy="82296"/>
          </a:xfrm>
          <a:prstGeom prst="ellipse">
            <a:avLst/>
          </a:prstGeom>
          <a:solidFill>
            <a:srgbClr val="3077DD"/>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4069080"/>
            <a:ext cx="4315968" cy="256032"/>
          </a:xfrm>
          <a:prstGeom prst="rect">
            <a:avLst/>
          </a:prstGeom>
          <a:noFill/>
        </p:spPr>
        <p:txBody>
          <a:bodyPr wrap="square" lIns="27432" rIns="27432" tIns="27432" bIns="27432" anchor="t">
            <a:spAutoFit/>
          </a:bodyPr>
          <a:lstStyle/>
          <a:p>
            <a:pPr algn="l">
              <a:spcAft>
                <a:spcPts val="200"/>
              </a:spcAft>
              <a:defRPr sz="1300" b="0">
                <a:solidFill>
                  <a:srgbClr val="203047"/>
                </a:solidFill>
                <a:latin typeface="Aptos"/>
              </a:defRPr>
            </a:pPr>
            <a:r>
              <a:t>Nebius LLM expands coverage</a:t>
            </a:r>
          </a:p>
        </p:txBody>
      </p:sp>
      <p:sp>
        <p:nvSpPr>
          <p:cNvPr id="10" name="Oval 9"/>
          <p:cNvSpPr/>
          <p:nvPr/>
        </p:nvSpPr>
        <p:spPr>
          <a:xfrm>
            <a:off x="914400" y="4498848"/>
            <a:ext cx="82296" cy="82296"/>
          </a:xfrm>
          <a:prstGeom prst="ellipse">
            <a:avLst/>
          </a:prstGeom>
          <a:solidFill>
            <a:srgbClr val="3077DD"/>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4425696"/>
            <a:ext cx="4315968" cy="256032"/>
          </a:xfrm>
          <a:prstGeom prst="rect">
            <a:avLst/>
          </a:prstGeom>
          <a:noFill/>
        </p:spPr>
        <p:txBody>
          <a:bodyPr wrap="square" lIns="27432" rIns="27432" tIns="27432" bIns="27432" anchor="t">
            <a:spAutoFit/>
          </a:bodyPr>
          <a:lstStyle/>
          <a:p>
            <a:pPr algn="l">
              <a:spcAft>
                <a:spcPts val="200"/>
              </a:spcAft>
              <a:defRPr sz="1300" b="0">
                <a:solidFill>
                  <a:srgbClr val="203047"/>
                </a:solidFill>
                <a:latin typeface="Aptos"/>
              </a:defRPr>
            </a:pPr>
            <a:r>
              <a:t>Tavily grounds time-sensitive phrasing</a:t>
            </a:r>
          </a:p>
        </p:txBody>
      </p:sp>
      <p:sp>
        <p:nvSpPr>
          <p:cNvPr id="12" name="Oval 11"/>
          <p:cNvSpPr/>
          <p:nvPr/>
        </p:nvSpPr>
        <p:spPr>
          <a:xfrm>
            <a:off x="914400" y="4855464"/>
            <a:ext cx="82296" cy="82296"/>
          </a:xfrm>
          <a:prstGeom prst="ellipse">
            <a:avLst/>
          </a:prstGeom>
          <a:solidFill>
            <a:srgbClr val="3077DD"/>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4782312"/>
            <a:ext cx="4315968" cy="256032"/>
          </a:xfrm>
          <a:prstGeom prst="rect">
            <a:avLst/>
          </a:prstGeom>
          <a:noFill/>
        </p:spPr>
        <p:txBody>
          <a:bodyPr wrap="square" lIns="27432" rIns="27432" tIns="27432" bIns="27432" anchor="t">
            <a:spAutoFit/>
          </a:bodyPr>
          <a:lstStyle/>
          <a:p>
            <a:pPr algn="l">
              <a:spcAft>
                <a:spcPts val="200"/>
              </a:spcAft>
              <a:defRPr sz="1300" b="0">
                <a:solidFill>
                  <a:srgbClr val="203047"/>
                </a:solidFill>
                <a:latin typeface="Aptos"/>
              </a:defRPr>
            </a:pPr>
            <a:r>
              <a:t>Contrastive peers create hard negatives</a:t>
            </a:r>
          </a:p>
        </p:txBody>
      </p:sp>
      <p:sp>
        <p:nvSpPr>
          <p:cNvPr id="14" name="Oval 13"/>
          <p:cNvSpPr/>
          <p:nvPr/>
        </p:nvSpPr>
        <p:spPr>
          <a:xfrm>
            <a:off x="914400" y="5212080"/>
            <a:ext cx="82296" cy="82296"/>
          </a:xfrm>
          <a:prstGeom prst="ellipse">
            <a:avLst/>
          </a:prstGeom>
          <a:solidFill>
            <a:srgbClr val="3077DD"/>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5138928"/>
            <a:ext cx="4315968" cy="256032"/>
          </a:xfrm>
          <a:prstGeom prst="rect">
            <a:avLst/>
          </a:prstGeom>
          <a:noFill/>
        </p:spPr>
        <p:txBody>
          <a:bodyPr wrap="square" lIns="27432" rIns="27432" tIns="27432" bIns="27432" anchor="t">
            <a:spAutoFit/>
          </a:bodyPr>
          <a:lstStyle/>
          <a:p>
            <a:pPr algn="l">
              <a:spcAft>
                <a:spcPts val="200"/>
              </a:spcAft>
              <a:defRPr sz="1300" b="0">
                <a:solidFill>
                  <a:srgbClr val="203047"/>
                </a:solidFill>
                <a:latin typeface="Aptos"/>
              </a:defRPr>
            </a:pPr>
            <a:r>
              <a:t>Artifacts persist as routing memory</a:t>
            </a:r>
          </a:p>
        </p:txBody>
      </p:sp>
      <p:sp>
        <p:nvSpPr>
          <p:cNvPr id="16" name="Rounded Rectangle 15"/>
          <p:cNvSpPr/>
          <p:nvPr/>
        </p:nvSpPr>
        <p:spPr>
          <a:xfrm>
            <a:off x="6291072" y="1627632"/>
            <a:ext cx="5230368" cy="4160520"/>
          </a:xfrm>
          <a:prstGeom prst="roundRect">
            <a:avLst>
              <a:gd name="adj" fmla="val 12000"/>
            </a:avLst>
          </a:prstGeom>
          <a:solidFill>
            <a:srgbClr val="DCF7F3"/>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47104" y="1874519"/>
            <a:ext cx="2834640" cy="228600"/>
          </a:xfrm>
          <a:prstGeom prst="rect">
            <a:avLst/>
          </a:prstGeom>
          <a:noFill/>
        </p:spPr>
        <p:txBody>
          <a:bodyPr wrap="square" lIns="27432" rIns="27432" tIns="27432" bIns="27432" anchor="t">
            <a:spAutoFit/>
          </a:bodyPr>
          <a:lstStyle/>
          <a:p>
            <a:pPr algn="l">
              <a:spcAft>
                <a:spcPts val="200"/>
              </a:spcAft>
              <a:defRPr sz="1100" b="1">
                <a:solidFill>
                  <a:srgbClr val="0F766E"/>
                </a:solidFill>
                <a:latin typeface="Aptos"/>
              </a:defRPr>
            </a:pPr>
            <a:r>
              <a:t>RUNTIME / REQUEST-TIME</a:t>
            </a:r>
          </a:p>
        </p:txBody>
      </p:sp>
      <p:sp>
        <p:nvSpPr>
          <p:cNvPr id="18" name="TextBox 17"/>
          <p:cNvSpPr txBox="1"/>
          <p:nvPr/>
        </p:nvSpPr>
        <p:spPr>
          <a:xfrm>
            <a:off x="6547104" y="2331720"/>
            <a:ext cx="4343400" cy="1417320"/>
          </a:xfrm>
          <a:prstGeom prst="rect">
            <a:avLst/>
          </a:prstGeom>
          <a:noFill/>
        </p:spPr>
        <p:txBody>
          <a:bodyPr wrap="square" lIns="27432" rIns="27432" tIns="27432" bIns="27432" anchor="t">
            <a:spAutoFit/>
          </a:bodyPr>
          <a:lstStyle/>
          <a:p>
            <a:pPr algn="l">
              <a:spcAft>
                <a:spcPts val="200"/>
              </a:spcAft>
              <a:defRPr sz="2500" b="1">
                <a:solidFill>
                  <a:srgbClr val="121F34"/>
                </a:solidFill>
                <a:latin typeface="Aptos"/>
              </a:defRPr>
            </a:pPr>
            <a:r>
              <a:t>User query</a:t>
            </a:r>
          </a:p>
          <a:p>
            <a:pPr algn="l">
              <a:spcAft>
                <a:spcPts val="200"/>
              </a:spcAft>
              <a:defRPr sz="2500" b="1">
                <a:solidFill>
                  <a:srgbClr val="121F34"/>
                </a:solidFill>
                <a:latin typeface="Aptos"/>
              </a:defRPr>
            </a:pPr>
            <a:r>
              <a:t>→ retrieve candidates</a:t>
            </a:r>
          </a:p>
          <a:p>
            <a:pPr algn="l">
              <a:spcAft>
                <a:spcPts val="200"/>
              </a:spcAft>
              <a:defRPr sz="2500" b="1">
                <a:solidFill>
                  <a:srgbClr val="121F34"/>
                </a:solidFill>
                <a:latin typeface="Aptos"/>
              </a:defRPr>
            </a:pPr>
            <a:r>
              <a:t>→ resolve ambiguity</a:t>
            </a:r>
          </a:p>
          <a:p>
            <a:pPr algn="l">
              <a:spcAft>
                <a:spcPts val="200"/>
              </a:spcAft>
              <a:defRPr sz="2500" b="1">
                <a:solidFill>
                  <a:srgbClr val="121F34"/>
                </a:solidFill>
                <a:latin typeface="Aptos"/>
              </a:defRPr>
            </a:pPr>
            <a:r>
              <a:t>→ return agent ID</a:t>
            </a:r>
          </a:p>
        </p:txBody>
      </p:sp>
      <p:sp>
        <p:nvSpPr>
          <p:cNvPr id="19" name="Oval 18"/>
          <p:cNvSpPr/>
          <p:nvPr/>
        </p:nvSpPr>
        <p:spPr>
          <a:xfrm>
            <a:off x="6547104" y="4142232"/>
            <a:ext cx="82296" cy="82296"/>
          </a:xfrm>
          <a:prstGeom prst="ellipse">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11696" y="4069080"/>
            <a:ext cx="4361688" cy="256032"/>
          </a:xfrm>
          <a:prstGeom prst="rect">
            <a:avLst/>
          </a:prstGeom>
          <a:noFill/>
        </p:spPr>
        <p:txBody>
          <a:bodyPr wrap="square" lIns="27432" rIns="27432" tIns="27432" bIns="27432" anchor="t">
            <a:spAutoFit/>
          </a:bodyPr>
          <a:lstStyle/>
          <a:p>
            <a:pPr algn="l">
              <a:spcAft>
                <a:spcPts val="200"/>
              </a:spcAft>
              <a:defRPr sz="1300" b="0">
                <a:solidFill>
                  <a:srgbClr val="203047"/>
                </a:solidFill>
                <a:latin typeface="Aptos"/>
              </a:defRPr>
            </a:pPr>
            <a:r>
              <a:t>One embedding per intent shard</a:t>
            </a:r>
          </a:p>
        </p:txBody>
      </p:sp>
      <p:sp>
        <p:nvSpPr>
          <p:cNvPr id="21" name="Oval 20"/>
          <p:cNvSpPr/>
          <p:nvPr/>
        </p:nvSpPr>
        <p:spPr>
          <a:xfrm>
            <a:off x="6547104" y="4498848"/>
            <a:ext cx="82296" cy="82296"/>
          </a:xfrm>
          <a:prstGeom prst="ellipse">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11696" y="4425696"/>
            <a:ext cx="4361688" cy="256032"/>
          </a:xfrm>
          <a:prstGeom prst="rect">
            <a:avLst/>
          </a:prstGeom>
          <a:noFill/>
        </p:spPr>
        <p:txBody>
          <a:bodyPr wrap="square" lIns="27432" rIns="27432" tIns="27432" bIns="27432" anchor="t">
            <a:spAutoFit/>
          </a:bodyPr>
          <a:lstStyle/>
          <a:p>
            <a:pPr algn="l">
              <a:spcAft>
                <a:spcPts val="200"/>
              </a:spcAft>
              <a:defRPr sz="1300" b="0">
                <a:solidFill>
                  <a:srgbClr val="203047"/>
                </a:solidFill>
                <a:latin typeface="Aptos"/>
              </a:defRPr>
            </a:pPr>
            <a:r>
              <a:t>FAISS returns high-recall candidates</a:t>
            </a:r>
          </a:p>
        </p:txBody>
      </p:sp>
      <p:sp>
        <p:nvSpPr>
          <p:cNvPr id="23" name="Oval 22"/>
          <p:cNvSpPr/>
          <p:nvPr/>
        </p:nvSpPr>
        <p:spPr>
          <a:xfrm>
            <a:off x="6547104" y="4855464"/>
            <a:ext cx="82296" cy="82296"/>
          </a:xfrm>
          <a:prstGeom prst="ellipse">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11696" y="4782312"/>
            <a:ext cx="4361688" cy="256032"/>
          </a:xfrm>
          <a:prstGeom prst="rect">
            <a:avLst/>
          </a:prstGeom>
          <a:noFill/>
        </p:spPr>
        <p:txBody>
          <a:bodyPr wrap="square" lIns="27432" rIns="27432" tIns="27432" bIns="27432" anchor="t">
            <a:spAutoFit/>
          </a:bodyPr>
          <a:lstStyle/>
          <a:p>
            <a:pPr algn="l">
              <a:spcAft>
                <a:spcPts val="200"/>
              </a:spcAft>
              <a:defRPr sz="1300" b="0">
                <a:solidFill>
                  <a:srgbClr val="203047"/>
                </a:solidFill>
                <a:latin typeface="Aptos"/>
              </a:defRPr>
            </a:pPr>
            <a:r>
              <a:t>Micro-LLM sees only Top-K schemas</a:t>
            </a:r>
          </a:p>
        </p:txBody>
      </p:sp>
      <p:sp>
        <p:nvSpPr>
          <p:cNvPr id="25" name="Oval 24"/>
          <p:cNvSpPr/>
          <p:nvPr/>
        </p:nvSpPr>
        <p:spPr>
          <a:xfrm>
            <a:off x="6547104" y="5212080"/>
            <a:ext cx="82296" cy="82296"/>
          </a:xfrm>
          <a:prstGeom prst="ellipse">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11696" y="5138928"/>
            <a:ext cx="4361688" cy="256032"/>
          </a:xfrm>
          <a:prstGeom prst="rect">
            <a:avLst/>
          </a:prstGeom>
          <a:noFill/>
        </p:spPr>
        <p:txBody>
          <a:bodyPr wrap="square" lIns="27432" rIns="27432" tIns="27432" bIns="27432" anchor="t">
            <a:spAutoFit/>
          </a:bodyPr>
          <a:lstStyle/>
          <a:p>
            <a:pPr algn="l">
              <a:spcAft>
                <a:spcPts val="200"/>
              </a:spcAft>
              <a:defRPr sz="1300" b="0">
                <a:solidFill>
                  <a:srgbClr val="203047"/>
                </a:solidFill>
                <a:latin typeface="Aptos"/>
              </a:defRPr>
            </a:pPr>
            <a:r>
              <a:t>Execution remains a separate concern</a:t>
            </a:r>
          </a:p>
        </p:txBody>
      </p:sp>
      <p:cxnSp>
        <p:nvCxnSpPr>
          <p:cNvPr id="27" name="Connector 26"/>
          <p:cNvCxnSpPr/>
          <p:nvPr/>
        </p:nvCxnSpPr>
        <p:spPr>
          <a:xfrm>
            <a:off x="5897880" y="3703320"/>
            <a:ext cx="356616" cy="0"/>
          </a:xfrm>
          <a:prstGeom prst="line">
            <a:avLst/>
          </a:prstGeom>
          <a:ln w="31750">
            <a:solidFill>
              <a:srgbClr val="714AB9"/>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705856" y="3310128"/>
            <a:ext cx="749808" cy="201168"/>
          </a:xfrm>
          <a:prstGeom prst="rect">
            <a:avLst/>
          </a:prstGeom>
          <a:noFill/>
        </p:spPr>
        <p:txBody>
          <a:bodyPr wrap="square" lIns="27432" rIns="27432" tIns="27432" bIns="27432" anchor="t">
            <a:spAutoFit/>
          </a:bodyPr>
          <a:lstStyle/>
          <a:p>
            <a:pPr algn="ctr">
              <a:spcAft>
                <a:spcPts val="200"/>
              </a:spcAft>
              <a:defRPr sz="1000" b="1">
                <a:solidFill>
                  <a:srgbClr val="714AB9"/>
                </a:solidFill>
                <a:latin typeface="Aptos"/>
              </a:defRPr>
            </a:pPr>
            <a:r>
              <a:t>amortize</a:t>
            </a:r>
          </a:p>
        </p:txBody>
      </p:sp>
      <p:cxnSp>
        <p:nvCxnSpPr>
          <p:cNvPr id="29" name="Connector 28"/>
          <p:cNvCxnSpPr/>
          <p:nvPr/>
        </p:nvCxnSpPr>
        <p:spPr>
          <a:xfrm>
            <a:off x="566928" y="6473952"/>
            <a:ext cx="11045952" cy="0"/>
          </a:xfrm>
          <a:prstGeom prst="line">
            <a:avLst/>
          </a:prstGeom>
          <a:ln>
            <a:solidFill>
              <a:srgbClr val="CCD8E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6528816"/>
            <a:ext cx="4754880" cy="164592"/>
          </a:xfrm>
          <a:prstGeom prst="rect">
            <a:avLst/>
          </a:prstGeom>
          <a:noFill/>
        </p:spPr>
        <p:txBody>
          <a:bodyPr wrap="square" lIns="27432" rIns="27432" tIns="27432" bIns="27432" anchor="t">
            <a:spAutoFit/>
          </a:bodyPr>
          <a:lstStyle/>
          <a:p>
            <a:pPr algn="l">
              <a:spcAft>
                <a:spcPts val="200"/>
              </a:spcAft>
              <a:defRPr sz="750" b="1">
                <a:solidFill>
                  <a:srgbClr val="60748C"/>
                </a:solidFill>
                <a:latin typeface="Aptos"/>
              </a:defRPr>
            </a:pPr>
            <a:r>
              <a:t>CENTRI  /  CENTRAL ROUTING INTELLIGENCE</a:t>
            </a:r>
          </a:p>
        </p:txBody>
      </p:sp>
      <p:sp>
        <p:nvSpPr>
          <p:cNvPr id="31" name="TextBox 30"/>
          <p:cNvSpPr txBox="1"/>
          <p:nvPr/>
        </p:nvSpPr>
        <p:spPr>
          <a:xfrm>
            <a:off x="5074920" y="6528816"/>
            <a:ext cx="6126480" cy="164592"/>
          </a:xfrm>
          <a:prstGeom prst="rect">
            <a:avLst/>
          </a:prstGeom>
          <a:noFill/>
        </p:spPr>
        <p:txBody>
          <a:bodyPr wrap="square" lIns="27432" rIns="27432" tIns="27432" bIns="27432" anchor="t">
            <a:spAutoFit/>
          </a:bodyPr>
          <a:lstStyle/>
          <a:p>
            <a:pPr algn="r">
              <a:spcAft>
                <a:spcPts val="200"/>
              </a:spcAft>
              <a:defRPr sz="720" b="0">
                <a:solidFill>
                  <a:srgbClr val="60748C"/>
                </a:solidFill>
                <a:latin typeface="Aptos"/>
              </a:defRPr>
            </a:pPr>
            <a:r>
              <a:t>Repository: scripts/compile.py · centri/synthesis · centri/index</a:t>
            </a:r>
          </a:p>
        </p:txBody>
      </p:sp>
      <p:sp>
        <p:nvSpPr>
          <p:cNvPr id="32" name="TextBox 31"/>
          <p:cNvSpPr txBox="1"/>
          <p:nvPr/>
        </p:nvSpPr>
        <p:spPr>
          <a:xfrm>
            <a:off x="11356848" y="6501384"/>
            <a:ext cx="274320" cy="182880"/>
          </a:xfrm>
          <a:prstGeom prst="rect">
            <a:avLst/>
          </a:prstGeom>
          <a:noFill/>
        </p:spPr>
        <p:txBody>
          <a:bodyPr wrap="square" lIns="27432" rIns="27432" tIns="27432" bIns="27432" anchor="t">
            <a:spAutoFit/>
          </a:bodyPr>
          <a:lstStyle/>
          <a:p>
            <a:pPr algn="r">
              <a:spcAft>
                <a:spcPts val="200"/>
              </a:spcAft>
              <a:defRPr sz="800" b="1">
                <a:solidFill>
                  <a:srgbClr val="60748C"/>
                </a:solidFill>
                <a:latin typeface="Apto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TextBox 1"/>
          <p:cNvSpPr txBox="1"/>
          <p:nvPr/>
        </p:nvSpPr>
        <p:spPr>
          <a:xfrm>
            <a:off x="566928" y="310896"/>
            <a:ext cx="4114800" cy="228600"/>
          </a:xfrm>
          <a:prstGeom prst="rect">
            <a:avLst/>
          </a:prstGeom>
          <a:noFill/>
        </p:spPr>
        <p:txBody>
          <a:bodyPr wrap="square" lIns="27432" rIns="27432" tIns="27432" bIns="27432" anchor="t">
            <a:spAutoFit/>
          </a:bodyPr>
          <a:lstStyle/>
          <a:p>
            <a:pPr algn="l">
              <a:spcAft>
                <a:spcPts val="200"/>
              </a:spcAft>
              <a:defRPr sz="900" b="1">
                <a:solidFill>
                  <a:srgbClr val="3077DD"/>
                </a:solidFill>
                <a:latin typeface="Aptos"/>
              </a:defRPr>
            </a:pPr>
            <a:r>
              <a:t>HOW THE SYSTEM WORKS</a:t>
            </a:r>
          </a:p>
        </p:txBody>
      </p:sp>
      <p:sp>
        <p:nvSpPr>
          <p:cNvPr id="3" name="TextBox 2"/>
          <p:cNvSpPr txBox="1"/>
          <p:nvPr/>
        </p:nvSpPr>
        <p:spPr>
          <a:xfrm>
            <a:off x="566928" y="594360"/>
            <a:ext cx="10881360" cy="502920"/>
          </a:xfrm>
          <a:prstGeom prst="rect">
            <a:avLst/>
          </a:prstGeom>
          <a:noFill/>
        </p:spPr>
        <p:txBody>
          <a:bodyPr wrap="square" lIns="27432" rIns="27432" tIns="27432" bIns="27432" anchor="t">
            <a:spAutoFit/>
          </a:bodyPr>
          <a:lstStyle/>
          <a:p>
            <a:pPr algn="l">
              <a:spcAft>
                <a:spcPts val="200"/>
              </a:spcAft>
              <a:defRPr sz="2600" b="1">
                <a:solidFill>
                  <a:srgbClr val="121F34"/>
                </a:solidFill>
                <a:latin typeface="Aptos"/>
              </a:defRPr>
            </a:pPr>
            <a:r>
              <a:t>Three planes: compile, route, learn</a:t>
            </a:r>
          </a:p>
        </p:txBody>
      </p:sp>
      <p:sp>
        <p:nvSpPr>
          <p:cNvPr id="4" name="TextBox 3"/>
          <p:cNvSpPr txBox="1"/>
          <p:nvPr/>
        </p:nvSpPr>
        <p:spPr>
          <a:xfrm>
            <a:off x="594360" y="1143000"/>
            <a:ext cx="10881360" cy="329184"/>
          </a:xfrm>
          <a:prstGeom prst="rect">
            <a:avLst/>
          </a:prstGeom>
          <a:noFill/>
        </p:spPr>
        <p:txBody>
          <a:bodyPr wrap="square" lIns="27432" rIns="27432" tIns="27432" bIns="27432" anchor="t">
            <a:spAutoFit/>
          </a:bodyPr>
          <a:lstStyle/>
          <a:p>
            <a:pPr algn="l">
              <a:spcAft>
                <a:spcPts val="200"/>
              </a:spcAft>
              <a:defRPr sz="1200" b="0">
                <a:solidFill>
                  <a:srgbClr val="60748C"/>
                </a:solidFill>
                <a:latin typeface="Aptos"/>
              </a:defRPr>
            </a:pPr>
            <a:r>
              <a:t>The gateway is the control plane; specialized agents remain downstream execution units.</a:t>
            </a:r>
          </a:p>
        </p:txBody>
      </p:sp>
      <p:sp>
        <p:nvSpPr>
          <p:cNvPr id="5" name="Rounded Rectangle 4"/>
          <p:cNvSpPr/>
          <p:nvPr/>
        </p:nvSpPr>
        <p:spPr>
          <a:xfrm>
            <a:off x="658368" y="1627632"/>
            <a:ext cx="10863072" cy="1078992"/>
          </a:xfrm>
          <a:prstGeom prst="roundRect">
            <a:avLst>
              <a:gd name="adj" fmla="val 12000"/>
            </a:avLst>
          </a:prstGeom>
          <a:solidFill>
            <a:srgbClr val="E0EEFF"/>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1773936"/>
            <a:ext cx="1234440" cy="201168"/>
          </a:xfrm>
          <a:prstGeom prst="rect">
            <a:avLst/>
          </a:prstGeom>
          <a:noFill/>
        </p:spPr>
        <p:txBody>
          <a:bodyPr wrap="square" lIns="27432" rIns="27432" tIns="27432" bIns="27432" anchor="t">
            <a:spAutoFit/>
          </a:bodyPr>
          <a:lstStyle/>
          <a:p>
            <a:pPr algn="l">
              <a:spcAft>
                <a:spcPts val="200"/>
              </a:spcAft>
              <a:defRPr sz="900" b="1">
                <a:solidFill>
                  <a:srgbClr val="3077DD"/>
                </a:solidFill>
                <a:latin typeface="Aptos"/>
              </a:defRPr>
            </a:pPr>
            <a:r>
              <a:t>COMPILE PLANE</a:t>
            </a:r>
          </a:p>
        </p:txBody>
      </p:sp>
      <p:sp>
        <p:nvSpPr>
          <p:cNvPr id="7" name="Rounded Rectangle 6"/>
          <p:cNvSpPr/>
          <p:nvPr/>
        </p:nvSpPr>
        <p:spPr>
          <a:xfrm>
            <a:off x="658368" y="3035808"/>
            <a:ext cx="10863072" cy="1078992"/>
          </a:xfrm>
          <a:prstGeom prst="roundRect">
            <a:avLst>
              <a:gd name="adj" fmla="val 12000"/>
            </a:avLst>
          </a:prstGeom>
          <a:solidFill>
            <a:srgbClr val="DCF7F3"/>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3182112"/>
            <a:ext cx="1234440" cy="201168"/>
          </a:xfrm>
          <a:prstGeom prst="rect">
            <a:avLst/>
          </a:prstGeom>
          <a:noFill/>
        </p:spPr>
        <p:txBody>
          <a:bodyPr wrap="square" lIns="27432" rIns="27432" tIns="27432" bIns="27432" anchor="t">
            <a:spAutoFit/>
          </a:bodyPr>
          <a:lstStyle/>
          <a:p>
            <a:pPr algn="l">
              <a:spcAft>
                <a:spcPts val="200"/>
              </a:spcAft>
              <a:defRPr sz="900" b="1">
                <a:solidFill>
                  <a:srgbClr val="0F766E"/>
                </a:solidFill>
                <a:latin typeface="Aptos"/>
              </a:defRPr>
            </a:pPr>
            <a:r>
              <a:t>ROUTING PLANE</a:t>
            </a:r>
          </a:p>
        </p:txBody>
      </p:sp>
      <p:sp>
        <p:nvSpPr>
          <p:cNvPr id="9" name="Rounded Rectangle 8"/>
          <p:cNvSpPr/>
          <p:nvPr/>
        </p:nvSpPr>
        <p:spPr>
          <a:xfrm>
            <a:off x="658368" y="4443984"/>
            <a:ext cx="10863072" cy="1078992"/>
          </a:xfrm>
          <a:prstGeom prst="roundRect">
            <a:avLst>
              <a:gd name="adj" fmla="val 12000"/>
            </a:avLst>
          </a:prstGeom>
          <a:solidFill>
            <a:srgbClr val="FFF4D3"/>
          </a:solidFill>
          <a:ln w="12700">
            <a:solidFill>
              <a:srgbClr val="BE73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4590288"/>
            <a:ext cx="1234440" cy="201168"/>
          </a:xfrm>
          <a:prstGeom prst="rect">
            <a:avLst/>
          </a:prstGeom>
          <a:noFill/>
        </p:spPr>
        <p:txBody>
          <a:bodyPr wrap="square" lIns="27432" rIns="27432" tIns="27432" bIns="27432" anchor="t">
            <a:spAutoFit/>
          </a:bodyPr>
          <a:lstStyle/>
          <a:p>
            <a:pPr algn="l">
              <a:spcAft>
                <a:spcPts val="200"/>
              </a:spcAft>
              <a:defRPr sz="900" b="1">
                <a:solidFill>
                  <a:srgbClr val="BE730C"/>
                </a:solidFill>
                <a:latin typeface="Aptos"/>
              </a:defRPr>
            </a:pPr>
            <a:r>
              <a:t>LEARNING PLANE</a:t>
            </a:r>
          </a:p>
        </p:txBody>
      </p:sp>
      <p:sp>
        <p:nvSpPr>
          <p:cNvPr id="11" name="Rounded Rectangle 10"/>
          <p:cNvSpPr/>
          <p:nvPr/>
        </p:nvSpPr>
        <p:spPr>
          <a:xfrm>
            <a:off x="2212848" y="1883664"/>
            <a:ext cx="960120" cy="530352"/>
          </a:xfrm>
          <a:prstGeom prst="roundRect">
            <a:avLst>
              <a:gd name="adj" fmla="val 12000"/>
            </a:avLst>
          </a:prstGeom>
          <a:solidFill>
            <a:srgbClr val="FFFFFF"/>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12848" y="2057400"/>
            <a:ext cx="960120" cy="164592"/>
          </a:xfrm>
          <a:prstGeom prst="rect">
            <a:avLst/>
          </a:prstGeom>
          <a:noFill/>
        </p:spPr>
        <p:txBody>
          <a:bodyPr wrap="square" lIns="27432" rIns="27432" tIns="27432" bIns="27432" anchor="t">
            <a:spAutoFit/>
          </a:bodyPr>
          <a:lstStyle/>
          <a:p>
            <a:pPr algn="ctr">
              <a:spcAft>
                <a:spcPts val="200"/>
              </a:spcAft>
              <a:defRPr sz="1100" b="1">
                <a:solidFill>
                  <a:srgbClr val="0F766E"/>
                </a:solidFill>
                <a:latin typeface="Aptos"/>
              </a:defRPr>
            </a:pPr>
            <a:r>
              <a:t>Catalog</a:t>
            </a:r>
          </a:p>
        </p:txBody>
      </p:sp>
      <p:sp>
        <p:nvSpPr>
          <p:cNvPr id="13" name="Rounded Rectangle 12"/>
          <p:cNvSpPr/>
          <p:nvPr/>
        </p:nvSpPr>
        <p:spPr>
          <a:xfrm>
            <a:off x="3438144" y="1883664"/>
            <a:ext cx="960120" cy="530352"/>
          </a:xfrm>
          <a:prstGeom prst="roundRect">
            <a:avLst>
              <a:gd name="adj" fmla="val 12000"/>
            </a:avLst>
          </a:prstGeom>
          <a:solidFill>
            <a:srgbClr val="FFFFFF"/>
          </a:solidFill>
          <a:ln w="12700">
            <a:solidFill>
              <a:srgbClr val="714A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38144" y="2057400"/>
            <a:ext cx="960120" cy="164592"/>
          </a:xfrm>
          <a:prstGeom prst="rect">
            <a:avLst/>
          </a:prstGeom>
          <a:noFill/>
        </p:spPr>
        <p:txBody>
          <a:bodyPr wrap="square" lIns="27432" rIns="27432" tIns="27432" bIns="27432" anchor="t">
            <a:spAutoFit/>
          </a:bodyPr>
          <a:lstStyle/>
          <a:p>
            <a:pPr algn="ctr">
              <a:spcAft>
                <a:spcPts val="200"/>
              </a:spcAft>
              <a:defRPr sz="1100" b="1">
                <a:solidFill>
                  <a:srgbClr val="714AB9"/>
                </a:solidFill>
                <a:latin typeface="Aptos"/>
              </a:defRPr>
            </a:pPr>
            <a:r>
              <a:t>Synthesis</a:t>
            </a:r>
          </a:p>
        </p:txBody>
      </p:sp>
      <p:sp>
        <p:nvSpPr>
          <p:cNvPr id="15" name="Rounded Rectangle 14"/>
          <p:cNvSpPr/>
          <p:nvPr/>
        </p:nvSpPr>
        <p:spPr>
          <a:xfrm>
            <a:off x="4663440" y="1883664"/>
            <a:ext cx="960120" cy="530352"/>
          </a:xfrm>
          <a:prstGeom prst="roundRect">
            <a:avLst>
              <a:gd name="adj" fmla="val 12000"/>
            </a:avLst>
          </a:prstGeom>
          <a:solidFill>
            <a:srgbClr val="FFFFFF"/>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2057400"/>
            <a:ext cx="960120" cy="164592"/>
          </a:xfrm>
          <a:prstGeom prst="rect">
            <a:avLst/>
          </a:prstGeom>
          <a:noFill/>
        </p:spPr>
        <p:txBody>
          <a:bodyPr wrap="square" lIns="27432" rIns="27432" tIns="27432" bIns="27432" anchor="t">
            <a:spAutoFit/>
          </a:bodyPr>
          <a:lstStyle/>
          <a:p>
            <a:pPr algn="ctr">
              <a:spcAft>
                <a:spcPts val="200"/>
              </a:spcAft>
              <a:defRPr sz="1100" b="1">
                <a:solidFill>
                  <a:srgbClr val="3077DD"/>
                </a:solidFill>
                <a:latin typeface="Aptos"/>
              </a:defRPr>
            </a:pPr>
            <a:r>
              <a:t>Embed</a:t>
            </a:r>
          </a:p>
        </p:txBody>
      </p:sp>
      <p:sp>
        <p:nvSpPr>
          <p:cNvPr id="17" name="Rounded Rectangle 16"/>
          <p:cNvSpPr/>
          <p:nvPr/>
        </p:nvSpPr>
        <p:spPr>
          <a:xfrm>
            <a:off x="5888736" y="1883664"/>
            <a:ext cx="960120" cy="530352"/>
          </a:xfrm>
          <a:prstGeom prst="roundRect">
            <a:avLst>
              <a:gd name="adj" fmla="val 12000"/>
            </a:avLst>
          </a:prstGeom>
          <a:solidFill>
            <a:srgbClr val="FFFFFF"/>
          </a:solidFill>
          <a:ln w="12700">
            <a:solidFill>
              <a:srgbClr val="1B8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88736" y="2057400"/>
            <a:ext cx="960120" cy="164592"/>
          </a:xfrm>
          <a:prstGeom prst="rect">
            <a:avLst/>
          </a:prstGeom>
          <a:noFill/>
        </p:spPr>
        <p:txBody>
          <a:bodyPr wrap="square" lIns="27432" rIns="27432" tIns="27432" bIns="27432" anchor="t">
            <a:spAutoFit/>
          </a:bodyPr>
          <a:lstStyle/>
          <a:p>
            <a:pPr algn="ctr">
              <a:spcAft>
                <a:spcPts val="200"/>
              </a:spcAft>
              <a:defRPr sz="1100" b="1">
                <a:solidFill>
                  <a:srgbClr val="1B854A"/>
                </a:solidFill>
                <a:latin typeface="Aptos"/>
              </a:defRPr>
            </a:pPr>
            <a:r>
              <a:t>FAISS</a:t>
            </a:r>
          </a:p>
        </p:txBody>
      </p:sp>
      <p:sp>
        <p:nvSpPr>
          <p:cNvPr id="19" name="Rounded Rectangle 18"/>
          <p:cNvSpPr/>
          <p:nvPr/>
        </p:nvSpPr>
        <p:spPr>
          <a:xfrm>
            <a:off x="7114032" y="1883664"/>
            <a:ext cx="960120" cy="530352"/>
          </a:xfrm>
          <a:prstGeom prst="roundRect">
            <a:avLst>
              <a:gd name="adj" fmla="val 12000"/>
            </a:avLst>
          </a:prstGeom>
          <a:solidFill>
            <a:srgbClr val="FFFFFF"/>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14032" y="2057400"/>
            <a:ext cx="960120" cy="164592"/>
          </a:xfrm>
          <a:prstGeom prst="rect">
            <a:avLst/>
          </a:prstGeom>
          <a:noFill/>
        </p:spPr>
        <p:txBody>
          <a:bodyPr wrap="square" lIns="27432" rIns="27432" tIns="27432" bIns="27432" anchor="t">
            <a:spAutoFit/>
          </a:bodyPr>
          <a:lstStyle/>
          <a:p>
            <a:pPr algn="ctr">
              <a:spcAft>
                <a:spcPts val="200"/>
              </a:spcAft>
              <a:defRPr sz="1100" b="1">
                <a:solidFill>
                  <a:srgbClr val="0F766E"/>
                </a:solidFill>
                <a:latin typeface="Aptos"/>
              </a:defRPr>
            </a:pPr>
            <a:r>
              <a:t>Artifacts</a:t>
            </a:r>
          </a:p>
        </p:txBody>
      </p:sp>
      <p:cxnSp>
        <p:nvCxnSpPr>
          <p:cNvPr id="21" name="Connector 20"/>
          <p:cNvCxnSpPr/>
          <p:nvPr/>
        </p:nvCxnSpPr>
        <p:spPr>
          <a:xfrm>
            <a:off x="3172968" y="2148840"/>
            <a:ext cx="246888" cy="0"/>
          </a:xfrm>
          <a:prstGeom prst="line">
            <a:avLst/>
          </a:prstGeom>
          <a:ln w="19050">
            <a:solidFill>
              <a:srgbClr val="3077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398264" y="2148840"/>
            <a:ext cx="246888" cy="0"/>
          </a:xfrm>
          <a:prstGeom prst="line">
            <a:avLst/>
          </a:prstGeom>
          <a:ln w="19050">
            <a:solidFill>
              <a:srgbClr val="3077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623560" y="2148840"/>
            <a:ext cx="246888" cy="0"/>
          </a:xfrm>
          <a:prstGeom prst="line">
            <a:avLst/>
          </a:prstGeom>
          <a:ln w="19050">
            <a:solidFill>
              <a:srgbClr val="3077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848856" y="2148840"/>
            <a:ext cx="246888" cy="0"/>
          </a:xfrm>
          <a:prstGeom prst="line">
            <a:avLst/>
          </a:prstGeom>
          <a:ln w="19050">
            <a:solidFill>
              <a:srgbClr val="3077D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212848" y="3291840"/>
            <a:ext cx="960120" cy="530352"/>
          </a:xfrm>
          <a:prstGeom prst="roundRect">
            <a:avLst>
              <a:gd name="adj" fmla="val 12000"/>
            </a:avLst>
          </a:prstGeom>
          <a:solidFill>
            <a:srgbClr val="FFFFFF"/>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12848" y="3465576"/>
            <a:ext cx="960120" cy="164592"/>
          </a:xfrm>
          <a:prstGeom prst="rect">
            <a:avLst/>
          </a:prstGeom>
          <a:noFill/>
        </p:spPr>
        <p:txBody>
          <a:bodyPr wrap="square" lIns="27432" rIns="27432" tIns="27432" bIns="27432" anchor="t">
            <a:spAutoFit/>
          </a:bodyPr>
          <a:lstStyle/>
          <a:p>
            <a:pPr algn="ctr">
              <a:spcAft>
                <a:spcPts val="200"/>
              </a:spcAft>
              <a:defRPr sz="1100" b="1">
                <a:solidFill>
                  <a:srgbClr val="3077DD"/>
                </a:solidFill>
                <a:latin typeface="Aptos"/>
              </a:defRPr>
            </a:pPr>
            <a:r>
              <a:t>POST /route</a:t>
            </a:r>
          </a:p>
        </p:txBody>
      </p:sp>
      <p:sp>
        <p:nvSpPr>
          <p:cNvPr id="27" name="Rounded Rectangle 26"/>
          <p:cNvSpPr/>
          <p:nvPr/>
        </p:nvSpPr>
        <p:spPr>
          <a:xfrm>
            <a:off x="3438144" y="3291840"/>
            <a:ext cx="960120" cy="530352"/>
          </a:xfrm>
          <a:prstGeom prst="roundRect">
            <a:avLst>
              <a:gd name="adj" fmla="val 12000"/>
            </a:avLst>
          </a:prstGeom>
          <a:solidFill>
            <a:srgbClr val="FFFFFF"/>
          </a:solidFill>
          <a:ln w="12700">
            <a:solidFill>
              <a:srgbClr val="714A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8144" y="3465576"/>
            <a:ext cx="960120" cy="164592"/>
          </a:xfrm>
          <a:prstGeom prst="rect">
            <a:avLst/>
          </a:prstGeom>
          <a:noFill/>
        </p:spPr>
        <p:txBody>
          <a:bodyPr wrap="square" lIns="27432" rIns="27432" tIns="27432" bIns="27432" anchor="t">
            <a:spAutoFit/>
          </a:bodyPr>
          <a:lstStyle/>
          <a:p>
            <a:pPr algn="ctr">
              <a:spcAft>
                <a:spcPts val="200"/>
              </a:spcAft>
              <a:defRPr sz="1100" b="1">
                <a:solidFill>
                  <a:srgbClr val="714AB9"/>
                </a:solidFill>
                <a:latin typeface="Aptos"/>
              </a:defRPr>
            </a:pPr>
            <a:r>
              <a:t>Split</a:t>
            </a:r>
          </a:p>
        </p:txBody>
      </p:sp>
      <p:sp>
        <p:nvSpPr>
          <p:cNvPr id="29" name="Rounded Rectangle 28"/>
          <p:cNvSpPr/>
          <p:nvPr/>
        </p:nvSpPr>
        <p:spPr>
          <a:xfrm>
            <a:off x="4663440" y="3291840"/>
            <a:ext cx="960120" cy="530352"/>
          </a:xfrm>
          <a:prstGeom prst="roundRect">
            <a:avLst>
              <a:gd name="adj" fmla="val 12000"/>
            </a:avLst>
          </a:prstGeom>
          <a:solidFill>
            <a:srgbClr val="FFFFFF"/>
          </a:solidFill>
          <a:ln w="12700">
            <a:solidFill>
              <a:srgbClr val="1B8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3440" y="3465576"/>
            <a:ext cx="960120" cy="164592"/>
          </a:xfrm>
          <a:prstGeom prst="rect">
            <a:avLst/>
          </a:prstGeom>
          <a:noFill/>
        </p:spPr>
        <p:txBody>
          <a:bodyPr wrap="square" lIns="27432" rIns="27432" tIns="27432" bIns="27432" anchor="t">
            <a:spAutoFit/>
          </a:bodyPr>
          <a:lstStyle/>
          <a:p>
            <a:pPr algn="ctr">
              <a:spcAft>
                <a:spcPts val="200"/>
              </a:spcAft>
              <a:defRPr sz="1100" b="1">
                <a:solidFill>
                  <a:srgbClr val="1B854A"/>
                </a:solidFill>
                <a:latin typeface="Aptos"/>
              </a:defRPr>
            </a:pPr>
            <a:r>
              <a:t>Top-K</a:t>
            </a:r>
          </a:p>
        </p:txBody>
      </p:sp>
      <p:sp>
        <p:nvSpPr>
          <p:cNvPr id="31" name="Rounded Rectangle 30"/>
          <p:cNvSpPr/>
          <p:nvPr/>
        </p:nvSpPr>
        <p:spPr>
          <a:xfrm>
            <a:off x="5888736" y="3291840"/>
            <a:ext cx="960120" cy="530352"/>
          </a:xfrm>
          <a:prstGeom prst="roundRect">
            <a:avLst>
              <a:gd name="adj" fmla="val 12000"/>
            </a:avLst>
          </a:prstGeom>
          <a:solidFill>
            <a:srgbClr val="FFFFFF"/>
          </a:solidFill>
          <a:ln w="12700">
            <a:solidFill>
              <a:srgbClr val="BE73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88736" y="3465576"/>
            <a:ext cx="960120" cy="164592"/>
          </a:xfrm>
          <a:prstGeom prst="rect">
            <a:avLst/>
          </a:prstGeom>
          <a:noFill/>
        </p:spPr>
        <p:txBody>
          <a:bodyPr wrap="square" lIns="27432" rIns="27432" tIns="27432" bIns="27432" anchor="t">
            <a:spAutoFit/>
          </a:bodyPr>
          <a:lstStyle/>
          <a:p>
            <a:pPr algn="ctr">
              <a:spcAft>
                <a:spcPts val="200"/>
              </a:spcAft>
              <a:defRPr sz="1100" b="1">
                <a:solidFill>
                  <a:srgbClr val="BE730C"/>
                </a:solidFill>
                <a:latin typeface="Aptos"/>
              </a:defRPr>
            </a:pPr>
            <a:r>
              <a:t>Top-3</a:t>
            </a:r>
          </a:p>
        </p:txBody>
      </p:sp>
      <p:sp>
        <p:nvSpPr>
          <p:cNvPr id="33" name="Rounded Rectangle 32"/>
          <p:cNvSpPr/>
          <p:nvPr/>
        </p:nvSpPr>
        <p:spPr>
          <a:xfrm>
            <a:off x="7114032" y="3291840"/>
            <a:ext cx="960120" cy="530352"/>
          </a:xfrm>
          <a:prstGeom prst="roundRect">
            <a:avLst>
              <a:gd name="adj" fmla="val 12000"/>
            </a:avLst>
          </a:prstGeom>
          <a:solidFill>
            <a:srgbClr val="FFFFFF"/>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14032" y="3465576"/>
            <a:ext cx="960120" cy="164592"/>
          </a:xfrm>
          <a:prstGeom prst="rect">
            <a:avLst/>
          </a:prstGeom>
          <a:noFill/>
        </p:spPr>
        <p:txBody>
          <a:bodyPr wrap="square" lIns="27432" rIns="27432" tIns="27432" bIns="27432" anchor="t">
            <a:spAutoFit/>
          </a:bodyPr>
          <a:lstStyle/>
          <a:p>
            <a:pPr algn="ctr">
              <a:spcAft>
                <a:spcPts val="200"/>
              </a:spcAft>
              <a:defRPr sz="1100" b="1">
                <a:solidFill>
                  <a:srgbClr val="0F766E"/>
                </a:solidFill>
                <a:latin typeface="Aptos"/>
              </a:defRPr>
            </a:pPr>
            <a:r>
              <a:t>Agent ID</a:t>
            </a:r>
          </a:p>
        </p:txBody>
      </p:sp>
      <p:cxnSp>
        <p:nvCxnSpPr>
          <p:cNvPr id="35" name="Connector 34"/>
          <p:cNvCxnSpPr/>
          <p:nvPr/>
        </p:nvCxnSpPr>
        <p:spPr>
          <a:xfrm>
            <a:off x="3172968" y="3557016"/>
            <a:ext cx="246888" cy="0"/>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398264" y="3557016"/>
            <a:ext cx="246888" cy="0"/>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623560" y="3557016"/>
            <a:ext cx="246888" cy="0"/>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848856" y="3557016"/>
            <a:ext cx="246888" cy="0"/>
          </a:xfrm>
          <a:prstGeom prst="line">
            <a:avLst/>
          </a:prstGeom>
          <a:ln w="19050">
            <a:solidFill>
              <a:srgbClr val="0F766E"/>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2212848" y="4700016"/>
            <a:ext cx="960120" cy="530352"/>
          </a:xfrm>
          <a:prstGeom prst="roundRect">
            <a:avLst>
              <a:gd name="adj" fmla="val 12000"/>
            </a:avLst>
          </a:prstGeom>
          <a:solidFill>
            <a:srgbClr val="FFFFFF"/>
          </a:solidFill>
          <a:ln w="12700">
            <a:solidFill>
              <a:srgbClr val="BE73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12848" y="4873752"/>
            <a:ext cx="960120" cy="164592"/>
          </a:xfrm>
          <a:prstGeom prst="rect">
            <a:avLst/>
          </a:prstGeom>
          <a:noFill/>
        </p:spPr>
        <p:txBody>
          <a:bodyPr wrap="square" lIns="27432" rIns="27432" tIns="27432" bIns="27432" anchor="t">
            <a:spAutoFit/>
          </a:bodyPr>
          <a:lstStyle/>
          <a:p>
            <a:pPr algn="ctr">
              <a:spcAft>
                <a:spcPts val="200"/>
              </a:spcAft>
              <a:defRPr sz="1100" b="1">
                <a:solidFill>
                  <a:srgbClr val="BE730C"/>
                </a:solidFill>
                <a:latin typeface="Aptos"/>
              </a:defRPr>
            </a:pPr>
            <a:r>
              <a:t>Shadow log</a:t>
            </a:r>
          </a:p>
        </p:txBody>
      </p:sp>
      <p:sp>
        <p:nvSpPr>
          <p:cNvPr id="41" name="Rounded Rectangle 40"/>
          <p:cNvSpPr/>
          <p:nvPr/>
        </p:nvSpPr>
        <p:spPr>
          <a:xfrm>
            <a:off x="3438144" y="4700016"/>
            <a:ext cx="960120" cy="530352"/>
          </a:xfrm>
          <a:prstGeom prst="roundRect">
            <a:avLst>
              <a:gd name="adj" fmla="val 12000"/>
            </a:avLst>
          </a:prstGeom>
          <a:solidFill>
            <a:srgbClr val="FFFFFF"/>
          </a:solidFill>
          <a:ln w="12700">
            <a:solidFill>
              <a:srgbClr val="BE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38144" y="4873752"/>
            <a:ext cx="960120" cy="164592"/>
          </a:xfrm>
          <a:prstGeom prst="rect">
            <a:avLst/>
          </a:prstGeom>
          <a:noFill/>
        </p:spPr>
        <p:txBody>
          <a:bodyPr wrap="square" lIns="27432" rIns="27432" tIns="27432" bIns="27432" anchor="t">
            <a:spAutoFit/>
          </a:bodyPr>
          <a:lstStyle/>
          <a:p>
            <a:pPr algn="ctr">
              <a:spcAft>
                <a:spcPts val="200"/>
              </a:spcAft>
              <a:defRPr sz="1100" b="1">
                <a:solidFill>
                  <a:srgbClr val="BE3434"/>
                </a:solidFill>
                <a:latin typeface="Aptos"/>
              </a:defRPr>
            </a:pPr>
            <a:r>
              <a:t>Review</a:t>
            </a:r>
          </a:p>
        </p:txBody>
      </p:sp>
      <p:sp>
        <p:nvSpPr>
          <p:cNvPr id="43" name="Rounded Rectangle 42"/>
          <p:cNvSpPr/>
          <p:nvPr/>
        </p:nvSpPr>
        <p:spPr>
          <a:xfrm>
            <a:off x="4663440" y="4700016"/>
            <a:ext cx="960120" cy="530352"/>
          </a:xfrm>
          <a:prstGeom prst="roundRect">
            <a:avLst>
              <a:gd name="adj" fmla="val 12000"/>
            </a:avLst>
          </a:prstGeom>
          <a:solidFill>
            <a:srgbClr val="FFFFFF"/>
          </a:solidFill>
          <a:ln w="12700">
            <a:solidFill>
              <a:srgbClr val="BE73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63440" y="4873752"/>
            <a:ext cx="960120" cy="164592"/>
          </a:xfrm>
          <a:prstGeom prst="rect">
            <a:avLst/>
          </a:prstGeom>
          <a:noFill/>
        </p:spPr>
        <p:txBody>
          <a:bodyPr wrap="square" lIns="27432" rIns="27432" tIns="27432" bIns="27432" anchor="t">
            <a:spAutoFit/>
          </a:bodyPr>
          <a:lstStyle/>
          <a:p>
            <a:pPr algn="ctr">
              <a:spcAft>
                <a:spcPts val="200"/>
              </a:spcAft>
              <a:defRPr sz="1100" b="1">
                <a:solidFill>
                  <a:srgbClr val="BE730C"/>
                </a:solidFill>
                <a:latin typeface="Aptos"/>
              </a:defRPr>
            </a:pPr>
            <a:r>
              <a:t>Correct</a:t>
            </a:r>
          </a:p>
        </p:txBody>
      </p:sp>
      <p:sp>
        <p:nvSpPr>
          <p:cNvPr id="45" name="Rounded Rectangle 44"/>
          <p:cNvSpPr/>
          <p:nvPr/>
        </p:nvSpPr>
        <p:spPr>
          <a:xfrm>
            <a:off x="5888736" y="4700016"/>
            <a:ext cx="960120" cy="530352"/>
          </a:xfrm>
          <a:prstGeom prst="roundRect">
            <a:avLst>
              <a:gd name="adj" fmla="val 12000"/>
            </a:avLst>
          </a:prstGeom>
          <a:solidFill>
            <a:srgbClr val="FFFFFF"/>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88736" y="4873752"/>
            <a:ext cx="960120" cy="164592"/>
          </a:xfrm>
          <a:prstGeom prst="rect">
            <a:avLst/>
          </a:prstGeom>
          <a:noFill/>
        </p:spPr>
        <p:txBody>
          <a:bodyPr wrap="square" lIns="27432" rIns="27432" tIns="27432" bIns="27432" anchor="t">
            <a:spAutoFit/>
          </a:bodyPr>
          <a:lstStyle/>
          <a:p>
            <a:pPr algn="ctr">
              <a:spcAft>
                <a:spcPts val="200"/>
              </a:spcAft>
              <a:defRPr sz="1100" b="1">
                <a:solidFill>
                  <a:srgbClr val="3077DD"/>
                </a:solidFill>
                <a:latin typeface="Aptos"/>
              </a:defRPr>
            </a:pPr>
            <a:r>
              <a:t>Re-embed</a:t>
            </a:r>
          </a:p>
        </p:txBody>
      </p:sp>
      <p:sp>
        <p:nvSpPr>
          <p:cNvPr id="47" name="Rounded Rectangle 46"/>
          <p:cNvSpPr/>
          <p:nvPr/>
        </p:nvSpPr>
        <p:spPr>
          <a:xfrm>
            <a:off x="7114032" y="4700016"/>
            <a:ext cx="960120" cy="530352"/>
          </a:xfrm>
          <a:prstGeom prst="roundRect">
            <a:avLst>
              <a:gd name="adj" fmla="val 12000"/>
            </a:avLst>
          </a:prstGeom>
          <a:solidFill>
            <a:srgbClr val="FFFFFF"/>
          </a:solidFill>
          <a:ln w="12700">
            <a:solidFill>
              <a:srgbClr val="1B8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14032" y="4873752"/>
            <a:ext cx="960120" cy="164592"/>
          </a:xfrm>
          <a:prstGeom prst="rect">
            <a:avLst/>
          </a:prstGeom>
          <a:noFill/>
        </p:spPr>
        <p:txBody>
          <a:bodyPr wrap="square" lIns="27432" rIns="27432" tIns="27432" bIns="27432" anchor="t">
            <a:spAutoFit/>
          </a:bodyPr>
          <a:lstStyle/>
          <a:p>
            <a:pPr algn="ctr">
              <a:spcAft>
                <a:spcPts val="200"/>
              </a:spcAft>
              <a:defRPr sz="1100" b="1">
                <a:solidFill>
                  <a:srgbClr val="1B854A"/>
                </a:solidFill>
                <a:latin typeface="Aptos"/>
              </a:defRPr>
            </a:pPr>
            <a:r>
              <a:t>Version</a:t>
            </a:r>
          </a:p>
        </p:txBody>
      </p:sp>
      <p:cxnSp>
        <p:nvCxnSpPr>
          <p:cNvPr id="49" name="Connector 48"/>
          <p:cNvCxnSpPr/>
          <p:nvPr/>
        </p:nvCxnSpPr>
        <p:spPr>
          <a:xfrm>
            <a:off x="3172968" y="4965192"/>
            <a:ext cx="246888" cy="0"/>
          </a:xfrm>
          <a:prstGeom prst="line">
            <a:avLst/>
          </a:prstGeom>
          <a:ln w="19050">
            <a:solidFill>
              <a:srgbClr val="BE730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398264" y="4965192"/>
            <a:ext cx="246888" cy="0"/>
          </a:xfrm>
          <a:prstGeom prst="line">
            <a:avLst/>
          </a:prstGeom>
          <a:ln w="19050">
            <a:solidFill>
              <a:srgbClr val="BE730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623560" y="4965192"/>
            <a:ext cx="246888" cy="0"/>
          </a:xfrm>
          <a:prstGeom prst="line">
            <a:avLst/>
          </a:prstGeom>
          <a:ln w="19050">
            <a:solidFill>
              <a:srgbClr val="BE730C"/>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848856" y="4965192"/>
            <a:ext cx="246888" cy="0"/>
          </a:xfrm>
          <a:prstGeom prst="line">
            <a:avLst/>
          </a:prstGeom>
          <a:ln w="19050">
            <a:solidFill>
              <a:srgbClr val="BE730C"/>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394192" y="1938528"/>
            <a:ext cx="2697480" cy="301752"/>
          </a:xfrm>
          <a:prstGeom prst="rect">
            <a:avLst/>
          </a:prstGeom>
          <a:noFill/>
        </p:spPr>
        <p:txBody>
          <a:bodyPr wrap="square" lIns="27432" rIns="27432" tIns="27432" bIns="27432" anchor="t">
            <a:spAutoFit/>
          </a:bodyPr>
          <a:lstStyle/>
          <a:p>
            <a:pPr algn="l">
              <a:spcAft>
                <a:spcPts val="200"/>
              </a:spcAft>
              <a:defRPr sz="1100" b="1">
                <a:solidFill>
                  <a:srgbClr val="203047"/>
                </a:solidFill>
                <a:latin typeface="Aptos"/>
              </a:defRPr>
            </a:pPr>
            <a:r>
              <a:t>Catalog source: sample_agent_router_dataset.json</a:t>
            </a:r>
          </a:p>
        </p:txBody>
      </p:sp>
      <p:sp>
        <p:nvSpPr>
          <p:cNvPr id="54" name="TextBox 53"/>
          <p:cNvSpPr txBox="1"/>
          <p:nvPr/>
        </p:nvSpPr>
        <p:spPr>
          <a:xfrm>
            <a:off x="8394192" y="3355848"/>
            <a:ext cx="2697480" cy="301752"/>
          </a:xfrm>
          <a:prstGeom prst="rect">
            <a:avLst/>
          </a:prstGeom>
          <a:noFill/>
        </p:spPr>
        <p:txBody>
          <a:bodyPr wrap="square" lIns="27432" rIns="27432" tIns="27432" bIns="27432" anchor="t">
            <a:spAutoFit/>
          </a:bodyPr>
          <a:lstStyle/>
          <a:p>
            <a:pPr algn="l">
              <a:spcAft>
                <a:spcPts val="200"/>
              </a:spcAft>
              <a:defRPr sz="1100" b="1">
                <a:solidFill>
                  <a:srgbClr val="BE3434"/>
                </a:solidFill>
                <a:latin typeface="Aptos"/>
              </a:defRPr>
            </a:pPr>
            <a:r>
              <a:t>Current handoff: StubAgentExecutor</a:t>
            </a:r>
          </a:p>
        </p:txBody>
      </p:sp>
      <p:sp>
        <p:nvSpPr>
          <p:cNvPr id="55" name="TextBox 54"/>
          <p:cNvSpPr txBox="1"/>
          <p:nvPr/>
        </p:nvSpPr>
        <p:spPr>
          <a:xfrm>
            <a:off x="8394192" y="4764024"/>
            <a:ext cx="2697480" cy="301752"/>
          </a:xfrm>
          <a:prstGeom prst="rect">
            <a:avLst/>
          </a:prstGeom>
          <a:noFill/>
        </p:spPr>
        <p:txBody>
          <a:bodyPr wrap="square" lIns="27432" rIns="27432" tIns="27432" bIns="27432" anchor="t">
            <a:spAutoFit/>
          </a:bodyPr>
          <a:lstStyle/>
          <a:p>
            <a:pPr algn="l">
              <a:spcAft>
                <a:spcPts val="200"/>
              </a:spcAft>
              <a:defRPr sz="1100" b="1">
                <a:solidFill>
                  <a:srgbClr val="BE3434"/>
                </a:solidFill>
                <a:latin typeface="Aptos"/>
              </a:defRPr>
            </a:pPr>
            <a:r>
              <a:t>Current risk: local mutable index</a:t>
            </a:r>
          </a:p>
        </p:txBody>
      </p:sp>
      <p:cxnSp>
        <p:nvCxnSpPr>
          <p:cNvPr id="56" name="Connector 55"/>
          <p:cNvCxnSpPr/>
          <p:nvPr/>
        </p:nvCxnSpPr>
        <p:spPr>
          <a:xfrm>
            <a:off x="566928" y="6473952"/>
            <a:ext cx="11045952" cy="0"/>
          </a:xfrm>
          <a:prstGeom prst="line">
            <a:avLst/>
          </a:prstGeom>
          <a:ln>
            <a:solidFill>
              <a:srgbClr val="CCD8E5"/>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94360" y="6528816"/>
            <a:ext cx="4754880" cy="164592"/>
          </a:xfrm>
          <a:prstGeom prst="rect">
            <a:avLst/>
          </a:prstGeom>
          <a:noFill/>
        </p:spPr>
        <p:txBody>
          <a:bodyPr wrap="square" lIns="27432" rIns="27432" tIns="27432" bIns="27432" anchor="t">
            <a:spAutoFit/>
          </a:bodyPr>
          <a:lstStyle/>
          <a:p>
            <a:pPr algn="l">
              <a:spcAft>
                <a:spcPts val="200"/>
              </a:spcAft>
              <a:defRPr sz="750" b="1">
                <a:solidFill>
                  <a:srgbClr val="60748C"/>
                </a:solidFill>
                <a:latin typeface="Aptos"/>
              </a:defRPr>
            </a:pPr>
            <a:r>
              <a:t>CENTRI  /  CENTRAL ROUTING INTELLIGENCE</a:t>
            </a:r>
          </a:p>
        </p:txBody>
      </p:sp>
      <p:sp>
        <p:nvSpPr>
          <p:cNvPr id="58" name="TextBox 57"/>
          <p:cNvSpPr txBox="1"/>
          <p:nvPr/>
        </p:nvSpPr>
        <p:spPr>
          <a:xfrm>
            <a:off x="5074920" y="6528816"/>
            <a:ext cx="6126480" cy="164592"/>
          </a:xfrm>
          <a:prstGeom prst="rect">
            <a:avLst/>
          </a:prstGeom>
          <a:noFill/>
        </p:spPr>
        <p:txBody>
          <a:bodyPr wrap="square" lIns="27432" rIns="27432" tIns="27432" bIns="27432" anchor="t">
            <a:spAutoFit/>
          </a:bodyPr>
          <a:lstStyle/>
          <a:p>
            <a:pPr algn="r">
              <a:spcAft>
                <a:spcPts val="200"/>
              </a:spcAft>
              <a:defRPr sz="720" b="0">
                <a:solidFill>
                  <a:srgbClr val="60748C"/>
                </a:solidFill>
                <a:latin typeface="Aptos"/>
              </a:defRPr>
            </a:pPr>
            <a:r>
              <a:t>FastAPI · Nebius · Tavily · FAISS · Pydantic · NumPy</a:t>
            </a:r>
          </a:p>
        </p:txBody>
      </p:sp>
      <p:sp>
        <p:nvSpPr>
          <p:cNvPr id="59" name="TextBox 58"/>
          <p:cNvSpPr txBox="1"/>
          <p:nvPr/>
        </p:nvSpPr>
        <p:spPr>
          <a:xfrm>
            <a:off x="11356848" y="6501384"/>
            <a:ext cx="274320" cy="182880"/>
          </a:xfrm>
          <a:prstGeom prst="rect">
            <a:avLst/>
          </a:prstGeom>
          <a:noFill/>
        </p:spPr>
        <p:txBody>
          <a:bodyPr wrap="square" lIns="27432" rIns="27432" tIns="27432" bIns="27432" anchor="t">
            <a:spAutoFit/>
          </a:bodyPr>
          <a:lstStyle/>
          <a:p>
            <a:pPr algn="r">
              <a:spcAft>
                <a:spcPts val="200"/>
              </a:spcAft>
              <a:defRPr sz="800" b="1">
                <a:solidFill>
                  <a:srgbClr val="60748C"/>
                </a:solidFill>
                <a:latin typeface="Apto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10896"/>
            <a:ext cx="4114800" cy="228600"/>
          </a:xfrm>
          <a:prstGeom prst="rect">
            <a:avLst/>
          </a:prstGeom>
          <a:noFill/>
        </p:spPr>
        <p:txBody>
          <a:bodyPr wrap="square" lIns="27432" rIns="27432" tIns="27432" bIns="27432" anchor="t">
            <a:spAutoFit/>
          </a:bodyPr>
          <a:lstStyle/>
          <a:p>
            <a:pPr algn="l">
              <a:spcAft>
                <a:spcPts val="200"/>
              </a:spcAft>
              <a:defRPr sz="900" b="1">
                <a:solidFill>
                  <a:srgbClr val="3077DD"/>
                </a:solidFill>
                <a:latin typeface="Aptos"/>
              </a:defRPr>
            </a:pPr>
            <a:r>
              <a:t>INSIDE ONE REQUEST</a:t>
            </a:r>
          </a:p>
        </p:txBody>
      </p:sp>
      <p:sp>
        <p:nvSpPr>
          <p:cNvPr id="3" name="TextBox 2"/>
          <p:cNvSpPr txBox="1"/>
          <p:nvPr/>
        </p:nvSpPr>
        <p:spPr>
          <a:xfrm>
            <a:off x="566928" y="594360"/>
            <a:ext cx="10881360" cy="502920"/>
          </a:xfrm>
          <a:prstGeom prst="rect">
            <a:avLst/>
          </a:prstGeom>
          <a:noFill/>
        </p:spPr>
        <p:txBody>
          <a:bodyPr wrap="square" lIns="27432" rIns="27432" tIns="27432" bIns="27432" anchor="t">
            <a:spAutoFit/>
          </a:bodyPr>
          <a:lstStyle/>
          <a:p>
            <a:pPr algn="l">
              <a:spcAft>
                <a:spcPts val="200"/>
              </a:spcAft>
              <a:defRPr sz="2600" b="1">
                <a:solidFill>
                  <a:srgbClr val="121F34"/>
                </a:solidFill>
                <a:latin typeface="Aptos"/>
              </a:defRPr>
            </a:pPr>
            <a:r>
              <a:t>Retrieve broadly, reason narrowly</a:t>
            </a:r>
          </a:p>
        </p:txBody>
      </p:sp>
      <p:sp>
        <p:nvSpPr>
          <p:cNvPr id="4" name="TextBox 3"/>
          <p:cNvSpPr txBox="1"/>
          <p:nvPr/>
        </p:nvSpPr>
        <p:spPr>
          <a:xfrm>
            <a:off x="594360" y="1143000"/>
            <a:ext cx="10881360" cy="329184"/>
          </a:xfrm>
          <a:prstGeom prst="rect">
            <a:avLst/>
          </a:prstGeom>
          <a:noFill/>
        </p:spPr>
        <p:txBody>
          <a:bodyPr wrap="square" lIns="27432" rIns="27432" tIns="27432" bIns="27432" anchor="t">
            <a:spAutoFit/>
          </a:bodyPr>
          <a:lstStyle/>
          <a:p>
            <a:pPr algn="l">
              <a:spcAft>
                <a:spcPts val="200"/>
              </a:spcAft>
              <a:defRPr sz="1200" b="0">
                <a:solidFill>
                  <a:srgbClr val="60748C"/>
                </a:solidFill>
                <a:latin typeface="Aptos"/>
              </a:defRPr>
            </a:pPr>
            <a:r>
              <a:t>A compound request can produce multiple independent routes.</a:t>
            </a:r>
          </a:p>
        </p:txBody>
      </p:sp>
      <p:sp>
        <p:nvSpPr>
          <p:cNvPr id="5" name="Rounded Rectangle 4"/>
          <p:cNvSpPr/>
          <p:nvPr/>
        </p:nvSpPr>
        <p:spPr>
          <a:xfrm>
            <a:off x="658368" y="1600200"/>
            <a:ext cx="10972800" cy="777240"/>
          </a:xfrm>
          <a:prstGeom prst="roundRect">
            <a:avLst>
              <a:gd name="adj" fmla="val 12000"/>
            </a:avLst>
          </a:prstGeom>
          <a:solidFill>
            <a:srgbClr val="121F34"/>
          </a:solidFill>
          <a:ln w="12700">
            <a:solidFill>
              <a:srgbClr val="121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47088"/>
            <a:ext cx="10424160" cy="256032"/>
          </a:xfrm>
          <a:prstGeom prst="rect">
            <a:avLst/>
          </a:prstGeom>
          <a:noFill/>
        </p:spPr>
        <p:txBody>
          <a:bodyPr wrap="square" lIns="27432" rIns="27432" tIns="27432" bIns="27432" anchor="t">
            <a:spAutoFit/>
          </a:bodyPr>
          <a:lstStyle/>
          <a:p>
            <a:pPr algn="ctr">
              <a:spcAft>
                <a:spcPts val="200"/>
              </a:spcAft>
              <a:defRPr sz="1700" b="1">
                <a:solidFill>
                  <a:srgbClr val="FFFFFF"/>
                </a:solidFill>
                <a:latin typeface="Aptos"/>
              </a:defRPr>
            </a:pPr>
            <a:r>
              <a:t>“Analyze our Q3 cloud infrastructure spend and prepare an incident summary.”</a:t>
            </a:r>
          </a:p>
        </p:txBody>
      </p:sp>
      <p:sp>
        <p:nvSpPr>
          <p:cNvPr id="7" name="Rounded Rectangle 6"/>
          <p:cNvSpPr/>
          <p:nvPr/>
        </p:nvSpPr>
        <p:spPr>
          <a:xfrm>
            <a:off x="658368" y="2999232"/>
            <a:ext cx="1490472" cy="1417320"/>
          </a:xfrm>
          <a:prstGeom prst="roundRect">
            <a:avLst>
              <a:gd name="adj" fmla="val 12000"/>
            </a:avLst>
          </a:prstGeom>
          <a:solidFill>
            <a:srgbClr val="EFE9FD"/>
          </a:solidFill>
          <a:ln w="12700">
            <a:solidFill>
              <a:srgbClr val="714A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49808" y="3136392"/>
            <a:ext cx="256032" cy="256032"/>
          </a:xfrm>
          <a:prstGeom prst="ellipse">
            <a:avLst/>
          </a:prstGeom>
          <a:solidFill>
            <a:srgbClr val="714AB9"/>
          </a:solidFill>
          <a:ln w="12700">
            <a:solidFill>
              <a:srgbClr val="714A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182112"/>
            <a:ext cx="256032" cy="137160"/>
          </a:xfrm>
          <a:prstGeom prst="rect">
            <a:avLst/>
          </a:prstGeom>
          <a:noFill/>
        </p:spPr>
        <p:txBody>
          <a:bodyPr wrap="square" lIns="27432" rIns="27432" tIns="27432" bIns="27432" anchor="t">
            <a:spAutoFit/>
          </a:bodyPr>
          <a:lstStyle/>
          <a:p>
            <a:pPr algn="ctr">
              <a:spcAft>
                <a:spcPts val="200"/>
              </a:spcAft>
              <a:defRPr sz="900" b="1">
                <a:solidFill>
                  <a:srgbClr val="FFFFFF"/>
                </a:solidFill>
                <a:latin typeface="Aptos"/>
              </a:defRPr>
            </a:pPr>
            <a:r>
              <a:t>1</a:t>
            </a:r>
          </a:p>
        </p:txBody>
      </p:sp>
      <p:sp>
        <p:nvSpPr>
          <p:cNvPr id="10" name="TextBox 9"/>
          <p:cNvSpPr txBox="1"/>
          <p:nvPr/>
        </p:nvSpPr>
        <p:spPr>
          <a:xfrm>
            <a:off x="768096" y="3502152"/>
            <a:ext cx="1280160" cy="228600"/>
          </a:xfrm>
          <a:prstGeom prst="rect">
            <a:avLst/>
          </a:prstGeom>
          <a:noFill/>
        </p:spPr>
        <p:txBody>
          <a:bodyPr wrap="square" lIns="27432" rIns="27432" tIns="27432" bIns="27432" anchor="t">
            <a:spAutoFit/>
          </a:bodyPr>
          <a:lstStyle/>
          <a:p>
            <a:pPr algn="ctr">
              <a:spcAft>
                <a:spcPts val="200"/>
              </a:spcAft>
              <a:defRPr sz="1200" b="1">
                <a:solidFill>
                  <a:srgbClr val="714AB9"/>
                </a:solidFill>
                <a:latin typeface="Aptos"/>
              </a:defRPr>
            </a:pPr>
            <a:r>
              <a:t>Intent split</a:t>
            </a:r>
          </a:p>
        </p:txBody>
      </p:sp>
      <p:sp>
        <p:nvSpPr>
          <p:cNvPr id="11" name="TextBox 10"/>
          <p:cNvSpPr txBox="1"/>
          <p:nvPr/>
        </p:nvSpPr>
        <p:spPr>
          <a:xfrm>
            <a:off x="768096" y="3831336"/>
            <a:ext cx="1280160" cy="384048"/>
          </a:xfrm>
          <a:prstGeom prst="rect">
            <a:avLst/>
          </a:prstGeom>
          <a:noFill/>
        </p:spPr>
        <p:txBody>
          <a:bodyPr wrap="square" lIns="27432" rIns="27432" tIns="27432" bIns="27432" anchor="t">
            <a:spAutoFit/>
          </a:bodyPr>
          <a:lstStyle/>
          <a:p>
            <a:pPr algn="ctr">
              <a:spcAft>
                <a:spcPts val="200"/>
              </a:spcAft>
              <a:defRPr sz="1100" b="0">
                <a:solidFill>
                  <a:srgbClr val="203047"/>
                </a:solidFill>
                <a:latin typeface="Aptos"/>
              </a:defRPr>
            </a:pPr>
            <a:r>
              <a:t>cloud spend</a:t>
            </a:r>
          </a:p>
          <a:p>
            <a:pPr algn="ctr">
              <a:spcAft>
                <a:spcPts val="200"/>
              </a:spcAft>
              <a:defRPr sz="1100" b="0">
                <a:solidFill>
                  <a:srgbClr val="203047"/>
                </a:solidFill>
                <a:latin typeface="Aptos"/>
              </a:defRPr>
            </a:pPr>
            <a:r>
              <a:t>incident summary</a:t>
            </a:r>
          </a:p>
        </p:txBody>
      </p:sp>
      <p:cxnSp>
        <p:nvCxnSpPr>
          <p:cNvPr id="12" name="Connector 11"/>
          <p:cNvCxnSpPr/>
          <p:nvPr/>
        </p:nvCxnSpPr>
        <p:spPr>
          <a:xfrm>
            <a:off x="2176272" y="3703320"/>
            <a:ext cx="256032" cy="0"/>
          </a:xfrm>
          <a:prstGeom prst="line">
            <a:avLst/>
          </a:prstGeom>
          <a:ln w="16510">
            <a:solidFill>
              <a:srgbClr val="60748C"/>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96312" y="2999232"/>
            <a:ext cx="1490472" cy="1417320"/>
          </a:xfrm>
          <a:prstGeom prst="roundRect">
            <a:avLst>
              <a:gd name="adj" fmla="val 12000"/>
            </a:avLst>
          </a:prstGeom>
          <a:solidFill>
            <a:srgbClr val="E0EEFF"/>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587752" y="3136392"/>
            <a:ext cx="256032" cy="256032"/>
          </a:xfrm>
          <a:prstGeom prst="ellipse">
            <a:avLst/>
          </a:prstGeom>
          <a:solidFill>
            <a:srgbClr val="3077DD"/>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87752" y="3182112"/>
            <a:ext cx="256032" cy="137160"/>
          </a:xfrm>
          <a:prstGeom prst="rect">
            <a:avLst/>
          </a:prstGeom>
          <a:noFill/>
        </p:spPr>
        <p:txBody>
          <a:bodyPr wrap="square" lIns="27432" rIns="27432" tIns="27432" bIns="27432" anchor="t">
            <a:spAutoFit/>
          </a:bodyPr>
          <a:lstStyle/>
          <a:p>
            <a:pPr algn="ctr">
              <a:spcAft>
                <a:spcPts val="200"/>
              </a:spcAft>
              <a:defRPr sz="900" b="1">
                <a:solidFill>
                  <a:srgbClr val="FFFFFF"/>
                </a:solidFill>
                <a:latin typeface="Aptos"/>
              </a:defRPr>
            </a:pPr>
            <a:r>
              <a:t>2</a:t>
            </a:r>
          </a:p>
        </p:txBody>
      </p:sp>
      <p:sp>
        <p:nvSpPr>
          <p:cNvPr id="16" name="TextBox 15"/>
          <p:cNvSpPr txBox="1"/>
          <p:nvPr/>
        </p:nvSpPr>
        <p:spPr>
          <a:xfrm>
            <a:off x="2606040" y="3502152"/>
            <a:ext cx="1280160" cy="228600"/>
          </a:xfrm>
          <a:prstGeom prst="rect">
            <a:avLst/>
          </a:prstGeom>
          <a:noFill/>
        </p:spPr>
        <p:txBody>
          <a:bodyPr wrap="square" lIns="27432" rIns="27432" tIns="27432" bIns="27432" anchor="t">
            <a:spAutoFit/>
          </a:bodyPr>
          <a:lstStyle/>
          <a:p>
            <a:pPr algn="ctr">
              <a:spcAft>
                <a:spcPts val="200"/>
              </a:spcAft>
              <a:defRPr sz="1200" b="1">
                <a:solidFill>
                  <a:srgbClr val="3077DD"/>
                </a:solidFill>
                <a:latin typeface="Aptos"/>
              </a:defRPr>
            </a:pPr>
            <a:r>
              <a:t>Embed</a:t>
            </a:r>
          </a:p>
        </p:txBody>
      </p:sp>
      <p:sp>
        <p:nvSpPr>
          <p:cNvPr id="17" name="TextBox 16"/>
          <p:cNvSpPr txBox="1"/>
          <p:nvPr/>
        </p:nvSpPr>
        <p:spPr>
          <a:xfrm>
            <a:off x="2606040" y="3831336"/>
            <a:ext cx="1280160" cy="384048"/>
          </a:xfrm>
          <a:prstGeom prst="rect">
            <a:avLst/>
          </a:prstGeom>
          <a:noFill/>
        </p:spPr>
        <p:txBody>
          <a:bodyPr wrap="square" lIns="27432" rIns="27432" tIns="27432" bIns="27432" anchor="t">
            <a:spAutoFit/>
          </a:bodyPr>
          <a:lstStyle/>
          <a:p>
            <a:pPr algn="ctr">
              <a:spcAft>
                <a:spcPts val="200"/>
              </a:spcAft>
              <a:defRPr sz="1100" b="0">
                <a:solidFill>
                  <a:srgbClr val="203047"/>
                </a:solidFill>
                <a:latin typeface="Aptos"/>
              </a:defRPr>
            </a:pPr>
            <a:r>
              <a:t>one vector</a:t>
            </a:r>
          </a:p>
          <a:p>
            <a:pPr algn="ctr">
              <a:spcAft>
                <a:spcPts val="200"/>
              </a:spcAft>
              <a:defRPr sz="1100" b="0">
                <a:solidFill>
                  <a:srgbClr val="203047"/>
                </a:solidFill>
                <a:latin typeface="Aptos"/>
              </a:defRPr>
            </a:pPr>
            <a:r>
              <a:t>per shard</a:t>
            </a:r>
          </a:p>
        </p:txBody>
      </p:sp>
      <p:cxnSp>
        <p:nvCxnSpPr>
          <p:cNvPr id="18" name="Connector 17"/>
          <p:cNvCxnSpPr/>
          <p:nvPr/>
        </p:nvCxnSpPr>
        <p:spPr>
          <a:xfrm>
            <a:off x="4014215" y="3703320"/>
            <a:ext cx="256033" cy="0"/>
          </a:xfrm>
          <a:prstGeom prst="line">
            <a:avLst/>
          </a:prstGeom>
          <a:ln w="16510">
            <a:solidFill>
              <a:srgbClr val="60748C"/>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34256" y="2999232"/>
            <a:ext cx="1490472" cy="1417320"/>
          </a:xfrm>
          <a:prstGeom prst="roundRect">
            <a:avLst>
              <a:gd name="adj" fmla="val 12000"/>
            </a:avLst>
          </a:prstGeom>
          <a:solidFill>
            <a:srgbClr val="E0F7E8"/>
          </a:solidFill>
          <a:ln w="12700">
            <a:solidFill>
              <a:srgbClr val="1B8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25696" y="3136392"/>
            <a:ext cx="256032" cy="256032"/>
          </a:xfrm>
          <a:prstGeom prst="ellipse">
            <a:avLst/>
          </a:prstGeom>
          <a:solidFill>
            <a:srgbClr val="1B854A"/>
          </a:solidFill>
          <a:ln w="12700">
            <a:solidFill>
              <a:srgbClr val="1B8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6" y="3182112"/>
            <a:ext cx="256032" cy="137160"/>
          </a:xfrm>
          <a:prstGeom prst="rect">
            <a:avLst/>
          </a:prstGeom>
          <a:noFill/>
        </p:spPr>
        <p:txBody>
          <a:bodyPr wrap="square" lIns="27432" rIns="27432" tIns="27432" bIns="27432" anchor="t">
            <a:spAutoFit/>
          </a:bodyPr>
          <a:lstStyle/>
          <a:p>
            <a:pPr algn="ctr">
              <a:spcAft>
                <a:spcPts val="200"/>
              </a:spcAft>
              <a:defRPr sz="900" b="1">
                <a:solidFill>
                  <a:srgbClr val="FFFFFF"/>
                </a:solidFill>
                <a:latin typeface="Aptos"/>
              </a:defRPr>
            </a:pPr>
            <a:r>
              <a:t>3</a:t>
            </a:r>
          </a:p>
        </p:txBody>
      </p:sp>
      <p:sp>
        <p:nvSpPr>
          <p:cNvPr id="22" name="TextBox 21"/>
          <p:cNvSpPr txBox="1"/>
          <p:nvPr/>
        </p:nvSpPr>
        <p:spPr>
          <a:xfrm>
            <a:off x="4443984" y="3502152"/>
            <a:ext cx="1280160" cy="228600"/>
          </a:xfrm>
          <a:prstGeom prst="rect">
            <a:avLst/>
          </a:prstGeom>
          <a:noFill/>
        </p:spPr>
        <p:txBody>
          <a:bodyPr wrap="square" lIns="27432" rIns="27432" tIns="27432" bIns="27432" anchor="t">
            <a:spAutoFit/>
          </a:bodyPr>
          <a:lstStyle/>
          <a:p>
            <a:pPr algn="ctr">
              <a:spcAft>
                <a:spcPts val="200"/>
              </a:spcAft>
              <a:defRPr sz="1200" b="1">
                <a:solidFill>
                  <a:srgbClr val="1B854A"/>
                </a:solidFill>
                <a:latin typeface="Aptos"/>
              </a:defRPr>
            </a:pPr>
            <a:r>
              <a:t>Retrieve</a:t>
            </a:r>
          </a:p>
        </p:txBody>
      </p:sp>
      <p:sp>
        <p:nvSpPr>
          <p:cNvPr id="23" name="TextBox 22"/>
          <p:cNvSpPr txBox="1"/>
          <p:nvPr/>
        </p:nvSpPr>
        <p:spPr>
          <a:xfrm>
            <a:off x="4443984" y="3831336"/>
            <a:ext cx="1280160" cy="384048"/>
          </a:xfrm>
          <a:prstGeom prst="rect">
            <a:avLst/>
          </a:prstGeom>
          <a:noFill/>
        </p:spPr>
        <p:txBody>
          <a:bodyPr wrap="square" lIns="27432" rIns="27432" tIns="27432" bIns="27432" anchor="t">
            <a:spAutoFit/>
          </a:bodyPr>
          <a:lstStyle/>
          <a:p>
            <a:pPr algn="ctr">
              <a:spcAft>
                <a:spcPts val="200"/>
              </a:spcAft>
              <a:defRPr sz="1100" b="0">
                <a:solidFill>
                  <a:srgbClr val="203047"/>
                </a:solidFill>
                <a:latin typeface="Aptos"/>
              </a:defRPr>
            </a:pPr>
            <a:r>
              <a:t>FAISS Top-25</a:t>
            </a:r>
          </a:p>
          <a:p>
            <a:pPr algn="ctr">
              <a:spcAft>
                <a:spcPts val="200"/>
              </a:spcAft>
              <a:defRPr sz="1100" b="0">
                <a:solidFill>
                  <a:srgbClr val="203047"/>
                </a:solidFill>
                <a:latin typeface="Aptos"/>
              </a:defRPr>
            </a:pPr>
            <a:r>
              <a:t>vector hits</a:t>
            </a:r>
          </a:p>
        </p:txBody>
      </p:sp>
      <p:cxnSp>
        <p:nvCxnSpPr>
          <p:cNvPr id="24" name="Connector 23"/>
          <p:cNvCxnSpPr/>
          <p:nvPr/>
        </p:nvCxnSpPr>
        <p:spPr>
          <a:xfrm>
            <a:off x="5852160" y="3703320"/>
            <a:ext cx="256032" cy="0"/>
          </a:xfrm>
          <a:prstGeom prst="line">
            <a:avLst/>
          </a:prstGeom>
          <a:ln w="16510">
            <a:solidFill>
              <a:srgbClr val="60748C"/>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72200" y="2999232"/>
            <a:ext cx="1490472" cy="1417320"/>
          </a:xfrm>
          <a:prstGeom prst="roundRect">
            <a:avLst>
              <a:gd name="adj" fmla="val 12000"/>
            </a:avLst>
          </a:prstGeom>
          <a:solidFill>
            <a:srgbClr val="DCF7F3"/>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63640" y="3136392"/>
            <a:ext cx="256032" cy="256032"/>
          </a:xfrm>
          <a:prstGeom prst="ellipse">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3182112"/>
            <a:ext cx="256032" cy="137160"/>
          </a:xfrm>
          <a:prstGeom prst="rect">
            <a:avLst/>
          </a:prstGeom>
          <a:noFill/>
        </p:spPr>
        <p:txBody>
          <a:bodyPr wrap="square" lIns="27432" rIns="27432" tIns="27432" bIns="27432" anchor="t">
            <a:spAutoFit/>
          </a:bodyPr>
          <a:lstStyle/>
          <a:p>
            <a:pPr algn="ctr">
              <a:spcAft>
                <a:spcPts val="200"/>
              </a:spcAft>
              <a:defRPr sz="900" b="1">
                <a:solidFill>
                  <a:srgbClr val="FFFFFF"/>
                </a:solidFill>
                <a:latin typeface="Aptos"/>
              </a:defRPr>
            </a:pPr>
            <a:r>
              <a:t>4</a:t>
            </a:r>
          </a:p>
        </p:txBody>
      </p:sp>
      <p:sp>
        <p:nvSpPr>
          <p:cNvPr id="28" name="TextBox 27"/>
          <p:cNvSpPr txBox="1"/>
          <p:nvPr/>
        </p:nvSpPr>
        <p:spPr>
          <a:xfrm>
            <a:off x="6281928" y="3502152"/>
            <a:ext cx="1280160" cy="228600"/>
          </a:xfrm>
          <a:prstGeom prst="rect">
            <a:avLst/>
          </a:prstGeom>
          <a:noFill/>
        </p:spPr>
        <p:txBody>
          <a:bodyPr wrap="square" lIns="27432" rIns="27432" tIns="27432" bIns="27432" anchor="t">
            <a:spAutoFit/>
          </a:bodyPr>
          <a:lstStyle/>
          <a:p>
            <a:pPr algn="ctr">
              <a:spcAft>
                <a:spcPts val="200"/>
              </a:spcAft>
              <a:defRPr sz="1200" b="1">
                <a:solidFill>
                  <a:srgbClr val="0F766E"/>
                </a:solidFill>
                <a:latin typeface="Aptos"/>
              </a:defRPr>
            </a:pPr>
            <a:r>
              <a:t>Aggregate</a:t>
            </a:r>
          </a:p>
        </p:txBody>
      </p:sp>
      <p:sp>
        <p:nvSpPr>
          <p:cNvPr id="29" name="TextBox 28"/>
          <p:cNvSpPr txBox="1"/>
          <p:nvPr/>
        </p:nvSpPr>
        <p:spPr>
          <a:xfrm>
            <a:off x="6281928" y="3831336"/>
            <a:ext cx="1280160" cy="384048"/>
          </a:xfrm>
          <a:prstGeom prst="rect">
            <a:avLst/>
          </a:prstGeom>
          <a:noFill/>
        </p:spPr>
        <p:txBody>
          <a:bodyPr wrap="square" lIns="27432" rIns="27432" tIns="27432" bIns="27432" anchor="t">
            <a:spAutoFit/>
          </a:bodyPr>
          <a:lstStyle/>
          <a:p>
            <a:pPr algn="ctr">
              <a:spcAft>
                <a:spcPts val="200"/>
              </a:spcAft>
              <a:defRPr sz="1100" b="0">
                <a:solidFill>
                  <a:srgbClr val="203047"/>
                </a:solidFill>
                <a:latin typeface="Aptos"/>
              </a:defRPr>
            </a:pPr>
            <a:r>
              <a:t>agent score</a:t>
            </a:r>
          </a:p>
          <a:p>
            <a:pPr algn="ctr">
              <a:spcAft>
                <a:spcPts val="200"/>
              </a:spcAft>
              <a:defRPr sz="1100" b="0">
                <a:solidFill>
                  <a:srgbClr val="203047"/>
                </a:solidFill>
                <a:latin typeface="Aptos"/>
              </a:defRPr>
            </a:pPr>
            <a:r>
              <a:t>max(sim) + vote</a:t>
            </a:r>
          </a:p>
        </p:txBody>
      </p:sp>
      <p:cxnSp>
        <p:nvCxnSpPr>
          <p:cNvPr id="30" name="Connector 29"/>
          <p:cNvCxnSpPr/>
          <p:nvPr/>
        </p:nvCxnSpPr>
        <p:spPr>
          <a:xfrm>
            <a:off x="7690104" y="3703320"/>
            <a:ext cx="256032" cy="0"/>
          </a:xfrm>
          <a:prstGeom prst="line">
            <a:avLst/>
          </a:prstGeom>
          <a:ln w="16510">
            <a:solidFill>
              <a:srgbClr val="60748C"/>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010144" y="2999232"/>
            <a:ext cx="1490472" cy="1417320"/>
          </a:xfrm>
          <a:prstGeom prst="roundRect">
            <a:avLst>
              <a:gd name="adj" fmla="val 12000"/>
            </a:avLst>
          </a:prstGeom>
          <a:solidFill>
            <a:srgbClr val="FFF4D3"/>
          </a:solidFill>
          <a:ln w="12700">
            <a:solidFill>
              <a:srgbClr val="BE73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101583" y="3136392"/>
            <a:ext cx="256032" cy="256032"/>
          </a:xfrm>
          <a:prstGeom prst="ellipse">
            <a:avLst/>
          </a:prstGeom>
          <a:solidFill>
            <a:srgbClr val="BE730C"/>
          </a:solidFill>
          <a:ln w="12700">
            <a:solidFill>
              <a:srgbClr val="BE73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01583" y="3182112"/>
            <a:ext cx="256032" cy="137160"/>
          </a:xfrm>
          <a:prstGeom prst="rect">
            <a:avLst/>
          </a:prstGeom>
          <a:noFill/>
        </p:spPr>
        <p:txBody>
          <a:bodyPr wrap="square" lIns="27432" rIns="27432" tIns="27432" bIns="27432" anchor="t">
            <a:spAutoFit/>
          </a:bodyPr>
          <a:lstStyle/>
          <a:p>
            <a:pPr algn="ctr">
              <a:spcAft>
                <a:spcPts val="200"/>
              </a:spcAft>
              <a:defRPr sz="900" b="1">
                <a:solidFill>
                  <a:srgbClr val="FFFFFF"/>
                </a:solidFill>
                <a:latin typeface="Aptos"/>
              </a:defRPr>
            </a:pPr>
            <a:r>
              <a:t>5</a:t>
            </a:r>
          </a:p>
        </p:txBody>
      </p:sp>
      <p:sp>
        <p:nvSpPr>
          <p:cNvPr id="34" name="TextBox 33"/>
          <p:cNvSpPr txBox="1"/>
          <p:nvPr/>
        </p:nvSpPr>
        <p:spPr>
          <a:xfrm>
            <a:off x="8119871" y="3502152"/>
            <a:ext cx="1280160" cy="228600"/>
          </a:xfrm>
          <a:prstGeom prst="rect">
            <a:avLst/>
          </a:prstGeom>
          <a:noFill/>
        </p:spPr>
        <p:txBody>
          <a:bodyPr wrap="square" lIns="27432" rIns="27432" tIns="27432" bIns="27432" anchor="t">
            <a:spAutoFit/>
          </a:bodyPr>
          <a:lstStyle/>
          <a:p>
            <a:pPr algn="ctr">
              <a:spcAft>
                <a:spcPts val="200"/>
              </a:spcAft>
              <a:defRPr sz="1200" b="1">
                <a:solidFill>
                  <a:srgbClr val="BE730C"/>
                </a:solidFill>
                <a:latin typeface="Aptos"/>
              </a:defRPr>
            </a:pPr>
            <a:r>
              <a:t>Rerank</a:t>
            </a:r>
          </a:p>
        </p:txBody>
      </p:sp>
      <p:sp>
        <p:nvSpPr>
          <p:cNvPr id="35" name="TextBox 34"/>
          <p:cNvSpPr txBox="1"/>
          <p:nvPr/>
        </p:nvSpPr>
        <p:spPr>
          <a:xfrm>
            <a:off x="8119871" y="3831336"/>
            <a:ext cx="1280160" cy="384048"/>
          </a:xfrm>
          <a:prstGeom prst="rect">
            <a:avLst/>
          </a:prstGeom>
          <a:noFill/>
        </p:spPr>
        <p:txBody>
          <a:bodyPr wrap="square" lIns="27432" rIns="27432" tIns="27432" bIns="27432" anchor="t">
            <a:spAutoFit/>
          </a:bodyPr>
          <a:lstStyle/>
          <a:p>
            <a:pPr algn="ctr">
              <a:spcAft>
                <a:spcPts val="200"/>
              </a:spcAft>
              <a:defRPr sz="1100" b="0">
                <a:solidFill>
                  <a:srgbClr val="203047"/>
                </a:solidFill>
                <a:latin typeface="Aptos"/>
              </a:defRPr>
            </a:pPr>
            <a:r>
              <a:t>LLM sees</a:t>
            </a:r>
          </a:p>
          <a:p>
            <a:pPr algn="ctr">
              <a:spcAft>
                <a:spcPts val="200"/>
              </a:spcAft>
              <a:defRPr sz="1100" b="0">
                <a:solidFill>
                  <a:srgbClr val="203047"/>
                </a:solidFill>
                <a:latin typeface="Aptos"/>
              </a:defRPr>
            </a:pPr>
            <a:r>
              <a:t>Top-3 cards</a:t>
            </a:r>
          </a:p>
        </p:txBody>
      </p:sp>
      <p:cxnSp>
        <p:nvCxnSpPr>
          <p:cNvPr id="36" name="Connector 35"/>
          <p:cNvCxnSpPr/>
          <p:nvPr/>
        </p:nvCxnSpPr>
        <p:spPr>
          <a:xfrm>
            <a:off x="9528048" y="3703320"/>
            <a:ext cx="256032" cy="0"/>
          </a:xfrm>
          <a:prstGeom prst="line">
            <a:avLst/>
          </a:prstGeom>
          <a:ln w="16510">
            <a:solidFill>
              <a:srgbClr val="60748C"/>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48088" y="2999232"/>
            <a:ext cx="1490472" cy="1417320"/>
          </a:xfrm>
          <a:prstGeom prst="roundRect">
            <a:avLst>
              <a:gd name="adj" fmla="val 12000"/>
            </a:avLst>
          </a:prstGeom>
          <a:solidFill>
            <a:srgbClr val="1C2F4C"/>
          </a:solidFill>
          <a:ln w="12700">
            <a:solidFill>
              <a:srgbClr val="1C2F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939528" y="3136392"/>
            <a:ext cx="256032" cy="256032"/>
          </a:xfrm>
          <a:prstGeom prst="ellipse">
            <a:avLst/>
          </a:prstGeom>
          <a:solidFill>
            <a:srgbClr val="3077DD"/>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9528" y="3182112"/>
            <a:ext cx="256032" cy="137160"/>
          </a:xfrm>
          <a:prstGeom prst="rect">
            <a:avLst/>
          </a:prstGeom>
          <a:noFill/>
        </p:spPr>
        <p:txBody>
          <a:bodyPr wrap="square" lIns="27432" rIns="27432" tIns="27432" bIns="27432" anchor="t">
            <a:spAutoFit/>
          </a:bodyPr>
          <a:lstStyle/>
          <a:p>
            <a:pPr algn="ctr">
              <a:spcAft>
                <a:spcPts val="200"/>
              </a:spcAft>
              <a:defRPr sz="900" b="1">
                <a:solidFill>
                  <a:srgbClr val="FFFFFF"/>
                </a:solidFill>
                <a:latin typeface="Aptos"/>
              </a:defRPr>
            </a:pPr>
            <a:r>
              <a:t>6</a:t>
            </a:r>
          </a:p>
        </p:txBody>
      </p:sp>
      <p:sp>
        <p:nvSpPr>
          <p:cNvPr id="40" name="TextBox 39"/>
          <p:cNvSpPr txBox="1"/>
          <p:nvPr/>
        </p:nvSpPr>
        <p:spPr>
          <a:xfrm>
            <a:off x="9957815" y="3502152"/>
            <a:ext cx="1280160" cy="228600"/>
          </a:xfrm>
          <a:prstGeom prst="rect">
            <a:avLst/>
          </a:prstGeom>
          <a:noFill/>
        </p:spPr>
        <p:txBody>
          <a:bodyPr wrap="square" lIns="27432" rIns="27432" tIns="27432" bIns="27432" anchor="t">
            <a:spAutoFit/>
          </a:bodyPr>
          <a:lstStyle/>
          <a:p>
            <a:pPr algn="ctr">
              <a:spcAft>
                <a:spcPts val="200"/>
              </a:spcAft>
              <a:defRPr sz="1200" b="1">
                <a:solidFill>
                  <a:srgbClr val="FFFFFF"/>
                </a:solidFill>
                <a:latin typeface="Aptos"/>
              </a:defRPr>
            </a:pPr>
            <a:r>
              <a:t>Return</a:t>
            </a:r>
          </a:p>
        </p:txBody>
      </p:sp>
      <p:sp>
        <p:nvSpPr>
          <p:cNvPr id="41" name="TextBox 40"/>
          <p:cNvSpPr txBox="1"/>
          <p:nvPr/>
        </p:nvSpPr>
        <p:spPr>
          <a:xfrm>
            <a:off x="9957815" y="3831336"/>
            <a:ext cx="1280160" cy="384048"/>
          </a:xfrm>
          <a:prstGeom prst="rect">
            <a:avLst/>
          </a:prstGeom>
          <a:noFill/>
        </p:spPr>
        <p:txBody>
          <a:bodyPr wrap="square" lIns="27432" rIns="27432" tIns="27432" bIns="27432" anchor="t">
            <a:spAutoFit/>
          </a:bodyPr>
          <a:lstStyle/>
          <a:p>
            <a:pPr algn="ctr">
              <a:spcAft>
                <a:spcPts val="200"/>
              </a:spcAft>
              <a:defRPr sz="1100" b="0">
                <a:solidFill>
                  <a:srgbClr val="FFFFFF"/>
                </a:solidFill>
                <a:latin typeface="Aptos"/>
              </a:defRPr>
            </a:pPr>
            <a:r>
              <a:t>agent IDs</a:t>
            </a:r>
          </a:p>
          <a:p>
            <a:pPr algn="ctr">
              <a:spcAft>
                <a:spcPts val="200"/>
              </a:spcAft>
              <a:defRPr sz="1100" b="0">
                <a:solidFill>
                  <a:srgbClr val="FFFFFF"/>
                </a:solidFill>
                <a:latin typeface="Aptos"/>
              </a:defRPr>
            </a:pPr>
            <a:r>
              <a:t>for handoff</a:t>
            </a:r>
          </a:p>
        </p:txBody>
      </p:sp>
      <p:sp>
        <p:nvSpPr>
          <p:cNvPr id="42" name="Rounded Rectangle 41"/>
          <p:cNvSpPr/>
          <p:nvPr/>
        </p:nvSpPr>
        <p:spPr>
          <a:xfrm>
            <a:off x="1069848" y="4956048"/>
            <a:ext cx="10012680" cy="658368"/>
          </a:xfrm>
          <a:prstGeom prst="roundRect">
            <a:avLst>
              <a:gd name="adj" fmla="val 12000"/>
            </a:avLst>
          </a:prstGeom>
          <a:solidFill>
            <a:srgbClr val="F8FBFD"/>
          </a:solidFill>
          <a:ln w="12700">
            <a:solidFill>
              <a:srgbClr val="CCD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25880" y="5148072"/>
            <a:ext cx="9509760" cy="228600"/>
          </a:xfrm>
          <a:prstGeom prst="rect">
            <a:avLst/>
          </a:prstGeom>
          <a:noFill/>
        </p:spPr>
        <p:txBody>
          <a:bodyPr wrap="square" lIns="27432" rIns="27432">
            <a:spAutoFit/>
          </a:bodyPr>
          <a:lstStyle/>
          <a:p>
            <a:r>
              <a:rPr sz="1500" b="1">
                <a:solidFill>
                  <a:srgbClr val="121F34"/>
                </a:solidFill>
                <a:latin typeface="Aptos"/>
              </a:rPr>
              <a:t>Bounded reasoning: </a:t>
            </a:r>
            <a:r>
              <a:rPr sz="1500" b="0">
                <a:solidFill>
                  <a:srgbClr val="0F766E"/>
                </a:solidFill>
                <a:latin typeface="Aptos"/>
              </a:rPr>
              <a:t>the reranker never compares against the full catalog — only the retrieved candidates.</a:t>
            </a:r>
          </a:p>
        </p:txBody>
      </p:sp>
      <p:sp>
        <p:nvSpPr>
          <p:cNvPr id="44" name="TextBox 43"/>
          <p:cNvSpPr txBox="1"/>
          <p:nvPr/>
        </p:nvSpPr>
        <p:spPr>
          <a:xfrm>
            <a:off x="1005840" y="5870448"/>
            <a:ext cx="10241280" cy="228600"/>
          </a:xfrm>
          <a:prstGeom prst="rect">
            <a:avLst/>
          </a:prstGeom>
          <a:noFill/>
        </p:spPr>
        <p:txBody>
          <a:bodyPr wrap="square" lIns="27432" rIns="27432" tIns="27432" bIns="27432" anchor="t">
            <a:spAutoFit/>
          </a:bodyPr>
          <a:lstStyle/>
          <a:p>
            <a:pPr algn="ctr">
              <a:spcAft>
                <a:spcPts val="200"/>
              </a:spcAft>
              <a:defRPr sz="1100" b="1">
                <a:solidFill>
                  <a:srgbClr val="BE3434"/>
                </a:solidFill>
                <a:latin typeface="Aptos"/>
              </a:defRPr>
            </a:pPr>
            <a:r>
              <a:t>Current PoC: shards are processed sequentially; production target: parallel shard routing and execution.</a:t>
            </a:r>
          </a:p>
        </p:txBody>
      </p:sp>
      <p:cxnSp>
        <p:nvCxnSpPr>
          <p:cNvPr id="45" name="Connector 44"/>
          <p:cNvCxnSpPr/>
          <p:nvPr/>
        </p:nvCxnSpPr>
        <p:spPr>
          <a:xfrm>
            <a:off x="566928" y="6473952"/>
            <a:ext cx="11045952" cy="0"/>
          </a:xfrm>
          <a:prstGeom prst="line">
            <a:avLst/>
          </a:prstGeom>
          <a:ln>
            <a:solidFill>
              <a:srgbClr val="CCD8E5"/>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6528816"/>
            <a:ext cx="4754880" cy="164592"/>
          </a:xfrm>
          <a:prstGeom prst="rect">
            <a:avLst/>
          </a:prstGeom>
          <a:noFill/>
        </p:spPr>
        <p:txBody>
          <a:bodyPr wrap="square" lIns="27432" rIns="27432" tIns="27432" bIns="27432" anchor="t">
            <a:spAutoFit/>
          </a:bodyPr>
          <a:lstStyle/>
          <a:p>
            <a:pPr algn="l">
              <a:spcAft>
                <a:spcPts val="200"/>
              </a:spcAft>
              <a:defRPr sz="750" b="1">
                <a:solidFill>
                  <a:srgbClr val="60748C"/>
                </a:solidFill>
                <a:latin typeface="Aptos"/>
              </a:defRPr>
            </a:pPr>
            <a:r>
              <a:t>CENTRI  /  CENTRAL ROUTING INTELLIGENCE</a:t>
            </a:r>
          </a:p>
        </p:txBody>
      </p:sp>
      <p:sp>
        <p:nvSpPr>
          <p:cNvPr id="47" name="TextBox 46"/>
          <p:cNvSpPr txBox="1"/>
          <p:nvPr/>
        </p:nvSpPr>
        <p:spPr>
          <a:xfrm>
            <a:off x="5074920" y="6528816"/>
            <a:ext cx="6126480" cy="164592"/>
          </a:xfrm>
          <a:prstGeom prst="rect">
            <a:avLst/>
          </a:prstGeom>
          <a:noFill/>
        </p:spPr>
        <p:txBody>
          <a:bodyPr wrap="square" lIns="27432" rIns="27432" tIns="27432" bIns="27432" anchor="t">
            <a:spAutoFit/>
          </a:bodyPr>
          <a:lstStyle/>
          <a:p>
            <a:pPr algn="r">
              <a:spcAft>
                <a:spcPts val="200"/>
              </a:spcAft>
              <a:defRPr sz="720" b="0">
                <a:solidFill>
                  <a:srgbClr val="60748C"/>
                </a:solidFill>
                <a:latin typeface="Aptos"/>
              </a:defRPr>
            </a:pPr>
            <a:r>
              <a:t>Runtime: centri/routing · centri/gateway/app.py</a:t>
            </a:r>
          </a:p>
        </p:txBody>
      </p:sp>
      <p:sp>
        <p:nvSpPr>
          <p:cNvPr id="48" name="TextBox 47"/>
          <p:cNvSpPr txBox="1"/>
          <p:nvPr/>
        </p:nvSpPr>
        <p:spPr>
          <a:xfrm>
            <a:off x="11356848" y="6501384"/>
            <a:ext cx="274320" cy="182880"/>
          </a:xfrm>
          <a:prstGeom prst="rect">
            <a:avLst/>
          </a:prstGeom>
          <a:noFill/>
        </p:spPr>
        <p:txBody>
          <a:bodyPr wrap="square" lIns="27432" rIns="27432" tIns="27432" bIns="27432" anchor="t">
            <a:spAutoFit/>
          </a:bodyPr>
          <a:lstStyle/>
          <a:p>
            <a:pPr algn="r">
              <a:spcAft>
                <a:spcPts val="200"/>
              </a:spcAft>
              <a:defRPr sz="800" b="1">
                <a:solidFill>
                  <a:srgbClr val="60748C"/>
                </a:solidFill>
                <a:latin typeface="Apto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TextBox 1"/>
          <p:cNvSpPr txBox="1"/>
          <p:nvPr/>
        </p:nvSpPr>
        <p:spPr>
          <a:xfrm>
            <a:off x="566928" y="310896"/>
            <a:ext cx="4114800" cy="228600"/>
          </a:xfrm>
          <a:prstGeom prst="rect">
            <a:avLst/>
          </a:prstGeom>
          <a:noFill/>
        </p:spPr>
        <p:txBody>
          <a:bodyPr wrap="square" lIns="27432" rIns="27432" tIns="27432" bIns="27432" anchor="t">
            <a:spAutoFit/>
          </a:bodyPr>
          <a:lstStyle/>
          <a:p>
            <a:pPr algn="l">
              <a:spcAft>
                <a:spcPts val="200"/>
              </a:spcAft>
              <a:defRPr sz="900" b="1">
                <a:solidFill>
                  <a:srgbClr val="3077DD"/>
                </a:solidFill>
                <a:latin typeface="Aptos"/>
              </a:defRPr>
            </a:pPr>
            <a:r>
              <a:t>WHY THIS ARCHITECTURE SCALES</a:t>
            </a:r>
          </a:p>
        </p:txBody>
      </p:sp>
      <p:sp>
        <p:nvSpPr>
          <p:cNvPr id="3" name="TextBox 2"/>
          <p:cNvSpPr txBox="1"/>
          <p:nvPr/>
        </p:nvSpPr>
        <p:spPr>
          <a:xfrm>
            <a:off x="566928" y="594360"/>
            <a:ext cx="10881360" cy="502920"/>
          </a:xfrm>
          <a:prstGeom prst="rect">
            <a:avLst/>
          </a:prstGeom>
          <a:noFill/>
        </p:spPr>
        <p:txBody>
          <a:bodyPr wrap="square" lIns="27432" rIns="27432" tIns="27432" bIns="27432" anchor="t">
            <a:spAutoFit/>
          </a:bodyPr>
          <a:lstStyle/>
          <a:p>
            <a:pPr algn="l">
              <a:spcAft>
                <a:spcPts val="200"/>
              </a:spcAft>
              <a:defRPr sz="2600" b="1">
                <a:solidFill>
                  <a:srgbClr val="121F34"/>
                </a:solidFill>
                <a:latin typeface="Aptos"/>
              </a:defRPr>
            </a:pPr>
            <a:r>
              <a:t>Keep the request-time decision surface small</a:t>
            </a:r>
          </a:p>
        </p:txBody>
      </p:sp>
      <p:sp>
        <p:nvSpPr>
          <p:cNvPr id="4" name="TextBox 3"/>
          <p:cNvSpPr txBox="1"/>
          <p:nvPr/>
        </p:nvSpPr>
        <p:spPr>
          <a:xfrm>
            <a:off x="594360" y="1143000"/>
            <a:ext cx="10881360" cy="329184"/>
          </a:xfrm>
          <a:prstGeom prst="rect">
            <a:avLst/>
          </a:prstGeom>
          <a:noFill/>
        </p:spPr>
        <p:txBody>
          <a:bodyPr wrap="square" lIns="27432" rIns="27432" tIns="27432" bIns="27432" anchor="t">
            <a:spAutoFit/>
          </a:bodyPr>
          <a:lstStyle/>
          <a:p>
            <a:pPr algn="l">
              <a:spcAft>
                <a:spcPts val="200"/>
              </a:spcAft>
              <a:defRPr sz="1200" b="0">
                <a:solidFill>
                  <a:srgbClr val="60748C"/>
                </a:solidFill>
                <a:latin typeface="Aptos"/>
              </a:defRPr>
            </a:pPr>
            <a:r>
              <a:t>CentRI is designed around a bounded cascade; exact performance still requires benchmarking.</a:t>
            </a:r>
          </a:p>
        </p:txBody>
      </p:sp>
      <p:sp>
        <p:nvSpPr>
          <p:cNvPr id="5" name="Rounded Rectangle 4"/>
          <p:cNvSpPr/>
          <p:nvPr/>
        </p:nvSpPr>
        <p:spPr>
          <a:xfrm>
            <a:off x="658368" y="1627632"/>
            <a:ext cx="5074920" cy="4343400"/>
          </a:xfrm>
          <a:prstGeom prst="roundRect">
            <a:avLst>
              <a:gd name="adj" fmla="val 12000"/>
            </a:avLst>
          </a:prstGeom>
          <a:solidFill>
            <a:srgbClr val="121F34"/>
          </a:solidFill>
          <a:ln w="12700">
            <a:solidFill>
              <a:srgbClr val="121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83664"/>
            <a:ext cx="2926080" cy="201168"/>
          </a:xfrm>
          <a:prstGeom prst="rect">
            <a:avLst/>
          </a:prstGeom>
          <a:noFill/>
        </p:spPr>
        <p:txBody>
          <a:bodyPr wrap="square" lIns="27432" rIns="27432" tIns="27432" bIns="27432" anchor="t">
            <a:spAutoFit/>
          </a:bodyPr>
          <a:lstStyle/>
          <a:p>
            <a:pPr algn="l">
              <a:spcAft>
                <a:spcPts val="200"/>
              </a:spcAft>
              <a:defRPr sz="1000" b="1">
                <a:solidFill>
                  <a:srgbClr val="E0EEFF"/>
                </a:solidFill>
                <a:latin typeface="Aptos"/>
              </a:defRPr>
            </a:pPr>
            <a:r>
              <a:t>REQUEST-TIME COST MODEL</a:t>
            </a:r>
          </a:p>
        </p:txBody>
      </p:sp>
      <p:sp>
        <p:nvSpPr>
          <p:cNvPr id="7" name="TextBox 6"/>
          <p:cNvSpPr txBox="1"/>
          <p:nvPr/>
        </p:nvSpPr>
        <p:spPr>
          <a:xfrm>
            <a:off x="914400" y="2359152"/>
            <a:ext cx="1828800" cy="256032"/>
          </a:xfrm>
          <a:prstGeom prst="rect">
            <a:avLst/>
          </a:prstGeom>
          <a:noFill/>
        </p:spPr>
        <p:txBody>
          <a:bodyPr wrap="square" lIns="27432" rIns="27432" tIns="27432" bIns="27432" anchor="t">
            <a:spAutoFit/>
          </a:bodyPr>
          <a:lstStyle/>
          <a:p>
            <a:pPr algn="l">
              <a:spcAft>
                <a:spcPts val="200"/>
              </a:spcAft>
              <a:defRPr sz="1600" b="1">
                <a:solidFill>
                  <a:srgbClr val="FFE6E6"/>
                </a:solidFill>
                <a:latin typeface="Aptos"/>
              </a:defRPr>
            </a:pPr>
            <a:r>
              <a:t>Prompt-all LLM</a:t>
            </a:r>
          </a:p>
        </p:txBody>
      </p:sp>
      <p:sp>
        <p:nvSpPr>
          <p:cNvPr id="8" name="TextBox 7"/>
          <p:cNvSpPr txBox="1"/>
          <p:nvPr/>
        </p:nvSpPr>
        <p:spPr>
          <a:xfrm>
            <a:off x="914400" y="2706624"/>
            <a:ext cx="4206240" cy="777240"/>
          </a:xfrm>
          <a:prstGeom prst="rect">
            <a:avLst/>
          </a:prstGeom>
          <a:noFill/>
        </p:spPr>
        <p:txBody>
          <a:bodyPr wrap="square" lIns="27432" rIns="27432" tIns="27432" bIns="27432" anchor="t">
            <a:spAutoFit/>
          </a:bodyPr>
          <a:lstStyle/>
          <a:p>
            <a:pPr algn="l">
              <a:spcAft>
                <a:spcPts val="200"/>
              </a:spcAft>
              <a:defRPr sz="1600" b="0">
                <a:solidFill>
                  <a:srgbClr val="FFFFFF"/>
                </a:solidFill>
                <a:latin typeface="Aptos"/>
              </a:defRPr>
            </a:pPr>
            <a:r>
              <a:t>context ≈ A × schema_tokens</a:t>
            </a:r>
          </a:p>
          <a:p>
            <a:pPr algn="l">
              <a:spcAft>
                <a:spcPts val="200"/>
              </a:spcAft>
              <a:defRPr sz="1600" b="0">
                <a:solidFill>
                  <a:srgbClr val="FFFFFF"/>
                </a:solidFill>
                <a:latin typeface="Aptos"/>
              </a:defRPr>
            </a:pPr>
            <a:r>
              <a:t>LLM scans the growing catalog</a:t>
            </a:r>
          </a:p>
          <a:p>
            <a:pPr algn="l">
              <a:spcAft>
                <a:spcPts val="200"/>
              </a:spcAft>
              <a:defRPr sz="1600" b="0">
                <a:solidFill>
                  <a:srgbClr val="FFFFFF"/>
                </a:solidFill>
                <a:latin typeface="Aptos"/>
              </a:defRPr>
            </a:pPr>
            <a:r>
              <a:t>cost and latency rise with A</a:t>
            </a:r>
          </a:p>
        </p:txBody>
      </p:sp>
      <p:sp>
        <p:nvSpPr>
          <p:cNvPr id="9" name="TextBox 8"/>
          <p:cNvSpPr txBox="1"/>
          <p:nvPr/>
        </p:nvSpPr>
        <p:spPr>
          <a:xfrm>
            <a:off x="914400" y="3703320"/>
            <a:ext cx="2286000" cy="256032"/>
          </a:xfrm>
          <a:prstGeom prst="rect">
            <a:avLst/>
          </a:prstGeom>
          <a:noFill/>
        </p:spPr>
        <p:txBody>
          <a:bodyPr wrap="square" lIns="27432" rIns="27432" tIns="27432" bIns="27432" anchor="t">
            <a:spAutoFit/>
          </a:bodyPr>
          <a:lstStyle/>
          <a:p>
            <a:pPr algn="l">
              <a:spcAft>
                <a:spcPts val="200"/>
              </a:spcAft>
              <a:defRPr sz="1600" b="1">
                <a:solidFill>
                  <a:srgbClr val="E0EEFF"/>
                </a:solidFill>
                <a:latin typeface="Aptos"/>
              </a:defRPr>
            </a:pPr>
            <a:r>
              <a:t>CentRI current PoC</a:t>
            </a:r>
          </a:p>
        </p:txBody>
      </p:sp>
      <p:sp>
        <p:nvSpPr>
          <p:cNvPr id="10" name="TextBox 9"/>
          <p:cNvSpPr txBox="1"/>
          <p:nvPr/>
        </p:nvSpPr>
        <p:spPr>
          <a:xfrm>
            <a:off x="914400" y="4050791"/>
            <a:ext cx="4343400" cy="841248"/>
          </a:xfrm>
          <a:prstGeom prst="rect">
            <a:avLst/>
          </a:prstGeom>
          <a:noFill/>
        </p:spPr>
        <p:txBody>
          <a:bodyPr wrap="square" lIns="27432" rIns="27432" tIns="27432" bIns="27432" anchor="t">
            <a:spAutoFit/>
          </a:bodyPr>
          <a:lstStyle/>
          <a:p>
            <a:pPr algn="l">
              <a:spcAft>
                <a:spcPts val="200"/>
              </a:spcAft>
              <a:defRPr sz="1600" b="0">
                <a:solidFill>
                  <a:srgbClr val="FFFFFF"/>
                </a:solidFill>
                <a:latin typeface="Aptos"/>
              </a:defRPr>
            </a:pPr>
            <a:r>
              <a:t>embed(q) + O(V × D) exact search</a:t>
            </a:r>
          </a:p>
          <a:p>
            <a:pPr algn="l">
              <a:spcAft>
                <a:spcPts val="200"/>
              </a:spcAft>
              <a:defRPr sz="1600" b="0">
                <a:solidFill>
                  <a:srgbClr val="FFFFFF"/>
                </a:solidFill>
                <a:latin typeface="Aptos"/>
              </a:defRPr>
            </a:pPr>
            <a:r>
              <a:t>+ LLM over K schemas</a:t>
            </a:r>
          </a:p>
          <a:p>
            <a:pPr algn="l">
              <a:spcAft>
                <a:spcPts val="200"/>
              </a:spcAft>
              <a:defRPr sz="1600" b="0">
                <a:solidFill>
                  <a:srgbClr val="FFFFFF"/>
                </a:solidFill>
                <a:latin typeface="Aptos"/>
              </a:defRPr>
            </a:pPr>
            <a:r>
              <a:t>K ≪ A, but Flat search is linear</a:t>
            </a:r>
          </a:p>
        </p:txBody>
      </p:sp>
      <p:sp>
        <p:nvSpPr>
          <p:cNvPr id="11" name="TextBox 10"/>
          <p:cNvSpPr txBox="1"/>
          <p:nvPr/>
        </p:nvSpPr>
        <p:spPr>
          <a:xfrm>
            <a:off x="914400" y="5065776"/>
            <a:ext cx="2468880" cy="256032"/>
          </a:xfrm>
          <a:prstGeom prst="rect">
            <a:avLst/>
          </a:prstGeom>
          <a:noFill/>
        </p:spPr>
        <p:txBody>
          <a:bodyPr wrap="square" lIns="27432" rIns="27432" tIns="27432" bIns="27432" anchor="t">
            <a:spAutoFit/>
          </a:bodyPr>
          <a:lstStyle/>
          <a:p>
            <a:pPr algn="l">
              <a:spcAft>
                <a:spcPts val="200"/>
              </a:spcAft>
              <a:defRPr sz="1600" b="1">
                <a:solidFill>
                  <a:srgbClr val="DCF7F3"/>
                </a:solidFill>
                <a:latin typeface="Aptos"/>
              </a:defRPr>
            </a:pPr>
            <a:r>
              <a:t>CentRI production target</a:t>
            </a:r>
          </a:p>
        </p:txBody>
      </p:sp>
      <p:sp>
        <p:nvSpPr>
          <p:cNvPr id="12" name="TextBox 11"/>
          <p:cNvSpPr txBox="1"/>
          <p:nvPr/>
        </p:nvSpPr>
        <p:spPr>
          <a:xfrm>
            <a:off x="914400" y="5413248"/>
            <a:ext cx="4343400" cy="457200"/>
          </a:xfrm>
          <a:prstGeom prst="rect">
            <a:avLst/>
          </a:prstGeom>
          <a:noFill/>
        </p:spPr>
        <p:txBody>
          <a:bodyPr wrap="square" lIns="27432" rIns="27432" tIns="27432" bIns="27432" anchor="t">
            <a:spAutoFit/>
          </a:bodyPr>
          <a:lstStyle/>
          <a:p>
            <a:pPr algn="l">
              <a:spcAft>
                <a:spcPts val="200"/>
              </a:spcAft>
              <a:defRPr sz="1400" b="0">
                <a:solidFill>
                  <a:srgbClr val="FFFFFF"/>
                </a:solidFill>
                <a:latin typeface="Aptos"/>
              </a:defRPr>
            </a:pPr>
            <a:r>
              <a:t>ANN retrieval: HNSW / IVF-PQ</a:t>
            </a:r>
          </a:p>
          <a:p>
            <a:pPr algn="l">
              <a:spcAft>
                <a:spcPts val="200"/>
              </a:spcAft>
              <a:defRPr sz="1400" b="0">
                <a:solidFill>
                  <a:srgbClr val="FFFFFF"/>
                </a:solidFill>
                <a:latin typeface="Aptos"/>
              </a:defRPr>
            </a:pPr>
            <a:r>
              <a:t>recall–latency–memory tuning</a:t>
            </a:r>
          </a:p>
          <a:p>
            <a:pPr algn="l">
              <a:spcAft>
                <a:spcPts val="200"/>
              </a:spcAft>
              <a:defRPr sz="1400" b="0">
                <a:solidFill>
                  <a:srgbClr val="FFFFFF"/>
                </a:solidFill>
                <a:latin typeface="Aptos"/>
              </a:defRPr>
            </a:pPr>
            <a:r>
              <a:t>sublinear-like behavior must be measured</a:t>
            </a:r>
          </a:p>
        </p:txBody>
      </p:sp>
      <p:sp>
        <p:nvSpPr>
          <p:cNvPr id="13" name="Rounded Rectangle 12"/>
          <p:cNvSpPr/>
          <p:nvPr/>
        </p:nvSpPr>
        <p:spPr>
          <a:xfrm>
            <a:off x="6080760" y="1627632"/>
            <a:ext cx="5468112" cy="4343400"/>
          </a:xfrm>
          <a:prstGeom prst="roundRect">
            <a:avLst>
              <a:gd name="adj" fmla="val 12000"/>
            </a:avLst>
          </a:prstGeom>
          <a:solidFill>
            <a:srgbClr val="FFFFFF"/>
          </a:solidFill>
          <a:ln w="12700">
            <a:solidFill>
              <a:srgbClr val="CCD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74519"/>
            <a:ext cx="4480560" cy="201168"/>
          </a:xfrm>
          <a:prstGeom prst="rect">
            <a:avLst/>
          </a:prstGeom>
          <a:noFill/>
        </p:spPr>
        <p:txBody>
          <a:bodyPr wrap="square" lIns="27432" rIns="27432" tIns="27432" bIns="27432" anchor="t">
            <a:spAutoFit/>
          </a:bodyPr>
          <a:lstStyle/>
          <a:p>
            <a:pPr algn="l">
              <a:spcAft>
                <a:spcPts val="200"/>
              </a:spcAft>
              <a:defRPr sz="1000" b="1">
                <a:solidFill>
                  <a:srgbClr val="121F34"/>
                </a:solidFill>
                <a:latin typeface="Aptos"/>
              </a:defRPr>
            </a:pPr>
            <a:r>
              <a:t>DECISION SURFACE AS THE CATALOG GROWS</a:t>
            </a:r>
          </a:p>
        </p:txBody>
      </p:sp>
      <p:sp>
        <p:nvSpPr>
          <p:cNvPr id="15" name="TextBox 14"/>
          <p:cNvSpPr txBox="1"/>
          <p:nvPr/>
        </p:nvSpPr>
        <p:spPr>
          <a:xfrm>
            <a:off x="6382512" y="2404872"/>
            <a:ext cx="1234440" cy="182880"/>
          </a:xfrm>
          <a:prstGeom prst="rect">
            <a:avLst/>
          </a:prstGeom>
          <a:noFill/>
        </p:spPr>
        <p:txBody>
          <a:bodyPr wrap="square" lIns="27432" rIns="27432" tIns="27432" bIns="27432" anchor="t">
            <a:spAutoFit/>
          </a:bodyPr>
          <a:lstStyle/>
          <a:p>
            <a:pPr algn="l">
              <a:spcAft>
                <a:spcPts val="200"/>
              </a:spcAft>
              <a:defRPr sz="1150" b="1">
                <a:solidFill>
                  <a:srgbClr val="203047"/>
                </a:solidFill>
                <a:latin typeface="Aptos"/>
              </a:defRPr>
            </a:pPr>
            <a:r>
              <a:t>Prompt-all LLM</a:t>
            </a:r>
          </a:p>
        </p:txBody>
      </p:sp>
      <p:sp>
        <p:nvSpPr>
          <p:cNvPr id="16" name="Rounded Rectangle 15"/>
          <p:cNvSpPr/>
          <p:nvPr/>
        </p:nvSpPr>
        <p:spPr>
          <a:xfrm>
            <a:off x="7818120" y="2414015"/>
            <a:ext cx="2697480" cy="256032"/>
          </a:xfrm>
          <a:prstGeom prst="roundRect">
            <a:avLst>
              <a:gd name="adj" fmla="val 12000"/>
            </a:avLst>
          </a:prstGeom>
          <a:solidFill>
            <a:srgbClr val="BE3434"/>
          </a:solidFill>
          <a:ln w="12700">
            <a:solidFill>
              <a:srgbClr val="BE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52759" y="2450591"/>
            <a:ext cx="1965960" cy="164592"/>
          </a:xfrm>
          <a:prstGeom prst="rect">
            <a:avLst/>
          </a:prstGeom>
          <a:noFill/>
        </p:spPr>
        <p:txBody>
          <a:bodyPr wrap="square" lIns="27432" rIns="27432" tIns="27432" bIns="27432" anchor="t">
            <a:spAutoFit/>
          </a:bodyPr>
          <a:lstStyle/>
          <a:p>
            <a:pPr algn="l">
              <a:spcAft>
                <a:spcPts val="200"/>
              </a:spcAft>
              <a:defRPr sz="950" b="0">
                <a:solidFill>
                  <a:srgbClr val="60748C"/>
                </a:solidFill>
                <a:latin typeface="Aptos"/>
              </a:defRPr>
            </a:pPr>
            <a:r>
              <a:t>grows with A</a:t>
            </a:r>
          </a:p>
        </p:txBody>
      </p:sp>
      <p:sp>
        <p:nvSpPr>
          <p:cNvPr id="18" name="TextBox 17"/>
          <p:cNvSpPr txBox="1"/>
          <p:nvPr/>
        </p:nvSpPr>
        <p:spPr>
          <a:xfrm>
            <a:off x="6382512" y="3090672"/>
            <a:ext cx="1234440" cy="182880"/>
          </a:xfrm>
          <a:prstGeom prst="rect">
            <a:avLst/>
          </a:prstGeom>
          <a:noFill/>
        </p:spPr>
        <p:txBody>
          <a:bodyPr wrap="square" lIns="27432" rIns="27432" tIns="27432" bIns="27432" anchor="t">
            <a:spAutoFit/>
          </a:bodyPr>
          <a:lstStyle/>
          <a:p>
            <a:pPr algn="l">
              <a:spcAft>
                <a:spcPts val="200"/>
              </a:spcAft>
              <a:defRPr sz="1150" b="1">
                <a:solidFill>
                  <a:srgbClr val="203047"/>
                </a:solidFill>
                <a:latin typeface="Aptos"/>
              </a:defRPr>
            </a:pPr>
            <a:r>
              <a:t>Flat classifier</a:t>
            </a:r>
          </a:p>
        </p:txBody>
      </p:sp>
      <p:sp>
        <p:nvSpPr>
          <p:cNvPr id="19" name="Rounded Rectangle 18"/>
          <p:cNvSpPr/>
          <p:nvPr/>
        </p:nvSpPr>
        <p:spPr>
          <a:xfrm>
            <a:off x="7818120" y="3099815"/>
            <a:ext cx="1600200" cy="256032"/>
          </a:xfrm>
          <a:prstGeom prst="roundRect">
            <a:avLst>
              <a:gd name="adj" fmla="val 12000"/>
            </a:avLst>
          </a:prstGeom>
          <a:solidFill>
            <a:srgbClr val="BE730C"/>
          </a:solidFill>
          <a:ln w="12700">
            <a:solidFill>
              <a:srgbClr val="BE73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55480" y="3136391"/>
            <a:ext cx="1965960" cy="164592"/>
          </a:xfrm>
          <a:prstGeom prst="rect">
            <a:avLst/>
          </a:prstGeom>
          <a:noFill/>
        </p:spPr>
        <p:txBody>
          <a:bodyPr wrap="square" lIns="27432" rIns="27432" tIns="27432" bIns="27432" anchor="t">
            <a:spAutoFit/>
          </a:bodyPr>
          <a:lstStyle/>
          <a:p>
            <a:pPr algn="l">
              <a:spcAft>
                <a:spcPts val="200"/>
              </a:spcAft>
              <a:defRPr sz="950" b="0">
                <a:solidFill>
                  <a:srgbClr val="60748C"/>
                </a:solidFill>
                <a:latin typeface="Aptos"/>
              </a:defRPr>
            </a:pPr>
            <a:r>
              <a:t>bounded / fixed stage</a:t>
            </a:r>
          </a:p>
        </p:txBody>
      </p:sp>
      <p:sp>
        <p:nvSpPr>
          <p:cNvPr id="21" name="TextBox 20"/>
          <p:cNvSpPr txBox="1"/>
          <p:nvPr/>
        </p:nvSpPr>
        <p:spPr>
          <a:xfrm>
            <a:off x="6382512" y="3776472"/>
            <a:ext cx="1234440" cy="182880"/>
          </a:xfrm>
          <a:prstGeom prst="rect">
            <a:avLst/>
          </a:prstGeom>
          <a:noFill/>
        </p:spPr>
        <p:txBody>
          <a:bodyPr wrap="square" lIns="27432" rIns="27432" tIns="27432" bIns="27432" anchor="t">
            <a:spAutoFit/>
          </a:bodyPr>
          <a:lstStyle/>
          <a:p>
            <a:pPr algn="l">
              <a:spcAft>
                <a:spcPts val="200"/>
              </a:spcAft>
              <a:defRPr sz="1150" b="1">
                <a:solidFill>
                  <a:srgbClr val="203047"/>
                </a:solidFill>
                <a:latin typeface="Aptos"/>
              </a:defRPr>
            </a:pPr>
            <a:r>
              <a:t>Jev-style choice</a:t>
            </a:r>
          </a:p>
        </p:txBody>
      </p:sp>
      <p:sp>
        <p:nvSpPr>
          <p:cNvPr id="22" name="Rounded Rectangle 21"/>
          <p:cNvSpPr/>
          <p:nvPr/>
        </p:nvSpPr>
        <p:spPr>
          <a:xfrm>
            <a:off x="7818120" y="3785615"/>
            <a:ext cx="1234440" cy="256032"/>
          </a:xfrm>
          <a:prstGeom prst="roundRect">
            <a:avLst>
              <a:gd name="adj" fmla="val 12000"/>
            </a:avLst>
          </a:prstGeom>
          <a:solidFill>
            <a:srgbClr val="714AB9"/>
          </a:solidFill>
          <a:ln w="12700">
            <a:solidFill>
              <a:srgbClr val="714A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9719" y="3822191"/>
            <a:ext cx="1965960" cy="164592"/>
          </a:xfrm>
          <a:prstGeom prst="rect">
            <a:avLst/>
          </a:prstGeom>
          <a:noFill/>
        </p:spPr>
        <p:txBody>
          <a:bodyPr wrap="square" lIns="27432" rIns="27432" tIns="27432" bIns="27432" anchor="t">
            <a:spAutoFit/>
          </a:bodyPr>
          <a:lstStyle/>
          <a:p>
            <a:pPr algn="l">
              <a:spcAft>
                <a:spcPts val="200"/>
              </a:spcAft>
              <a:defRPr sz="950" b="0">
                <a:solidFill>
                  <a:srgbClr val="60748C"/>
                </a:solidFill>
                <a:latin typeface="Aptos"/>
              </a:defRPr>
            </a:pPr>
            <a:r>
              <a:t>bounded / fixed stage</a:t>
            </a:r>
          </a:p>
        </p:txBody>
      </p:sp>
      <p:sp>
        <p:nvSpPr>
          <p:cNvPr id="24" name="TextBox 23"/>
          <p:cNvSpPr txBox="1"/>
          <p:nvPr/>
        </p:nvSpPr>
        <p:spPr>
          <a:xfrm>
            <a:off x="6382512" y="4462272"/>
            <a:ext cx="1234440" cy="182880"/>
          </a:xfrm>
          <a:prstGeom prst="rect">
            <a:avLst/>
          </a:prstGeom>
          <a:noFill/>
        </p:spPr>
        <p:txBody>
          <a:bodyPr wrap="square" lIns="27432" rIns="27432" tIns="27432" bIns="27432" anchor="t">
            <a:spAutoFit/>
          </a:bodyPr>
          <a:lstStyle/>
          <a:p>
            <a:pPr algn="l">
              <a:spcAft>
                <a:spcPts val="200"/>
              </a:spcAft>
              <a:defRPr sz="1150" b="1">
                <a:solidFill>
                  <a:srgbClr val="203047"/>
                </a:solidFill>
                <a:latin typeface="Aptos"/>
              </a:defRPr>
            </a:pPr>
            <a:r>
              <a:t>CentRI cascade</a:t>
            </a:r>
          </a:p>
        </p:txBody>
      </p:sp>
      <p:sp>
        <p:nvSpPr>
          <p:cNvPr id="25" name="Rounded Rectangle 24"/>
          <p:cNvSpPr/>
          <p:nvPr/>
        </p:nvSpPr>
        <p:spPr>
          <a:xfrm>
            <a:off x="7818120" y="4471416"/>
            <a:ext cx="960120" cy="256032"/>
          </a:xfrm>
          <a:prstGeom prst="roundRect">
            <a:avLst>
              <a:gd name="adj" fmla="val 12000"/>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15400" y="4507992"/>
            <a:ext cx="1965960" cy="164592"/>
          </a:xfrm>
          <a:prstGeom prst="rect">
            <a:avLst/>
          </a:prstGeom>
          <a:noFill/>
        </p:spPr>
        <p:txBody>
          <a:bodyPr wrap="square" lIns="27432" rIns="27432" tIns="27432" bIns="27432" anchor="t">
            <a:spAutoFit/>
          </a:bodyPr>
          <a:lstStyle/>
          <a:p>
            <a:pPr algn="l">
              <a:spcAft>
                <a:spcPts val="200"/>
              </a:spcAft>
              <a:defRPr sz="950" b="0">
                <a:solidFill>
                  <a:srgbClr val="60748C"/>
                </a:solidFill>
                <a:latin typeface="Aptos"/>
              </a:defRPr>
            </a:pPr>
            <a:r>
              <a:t>bounded / fixed stage</a:t>
            </a:r>
          </a:p>
        </p:txBody>
      </p:sp>
      <p:sp>
        <p:nvSpPr>
          <p:cNvPr id="27" name="TextBox 26"/>
          <p:cNvSpPr txBox="1"/>
          <p:nvPr/>
        </p:nvSpPr>
        <p:spPr>
          <a:xfrm>
            <a:off x="6382512" y="5440680"/>
            <a:ext cx="4572000" cy="228600"/>
          </a:xfrm>
          <a:prstGeom prst="rect">
            <a:avLst/>
          </a:prstGeom>
          <a:noFill/>
        </p:spPr>
        <p:txBody>
          <a:bodyPr wrap="square" lIns="27432" rIns="27432" tIns="27432" bIns="27432" anchor="t">
            <a:spAutoFit/>
          </a:bodyPr>
          <a:lstStyle/>
          <a:p>
            <a:pPr algn="l">
              <a:spcAft>
                <a:spcPts val="200"/>
              </a:spcAft>
              <a:defRPr sz="1000" b="0">
                <a:solidFill>
                  <a:srgbClr val="60748C"/>
                </a:solidFill>
                <a:latin typeface="Aptos"/>
              </a:defRPr>
            </a:pPr>
            <a:r>
              <a:t>A = total agents   K = rerank candidates   V = indexed examples   D = vector dimension</a:t>
            </a:r>
          </a:p>
        </p:txBody>
      </p:sp>
      <p:sp>
        <p:nvSpPr>
          <p:cNvPr id="28" name="TextBox 27"/>
          <p:cNvSpPr txBox="1"/>
          <p:nvPr/>
        </p:nvSpPr>
        <p:spPr>
          <a:xfrm>
            <a:off x="6382512" y="5715000"/>
            <a:ext cx="4709160" cy="228600"/>
          </a:xfrm>
          <a:prstGeom prst="rect">
            <a:avLst/>
          </a:prstGeom>
          <a:noFill/>
        </p:spPr>
        <p:txBody>
          <a:bodyPr wrap="square" lIns="27432" rIns="27432" tIns="27432" bIns="27432" anchor="t">
            <a:spAutoFit/>
          </a:bodyPr>
          <a:lstStyle/>
          <a:p>
            <a:pPr algn="l">
              <a:spcAft>
                <a:spcPts val="200"/>
              </a:spcAft>
              <a:defRPr sz="1050" b="1">
                <a:solidFill>
                  <a:srgbClr val="BE3434"/>
                </a:solidFill>
                <a:latin typeface="Aptos"/>
              </a:defRPr>
            </a:pPr>
            <a:r>
              <a:t>Claim discipline: CentRI is a scalability hypothesis until latency, recall, cost, and accuracy curves are measured.</a:t>
            </a:r>
          </a:p>
        </p:txBody>
      </p:sp>
      <p:cxnSp>
        <p:nvCxnSpPr>
          <p:cNvPr id="29" name="Connector 28"/>
          <p:cNvCxnSpPr/>
          <p:nvPr/>
        </p:nvCxnSpPr>
        <p:spPr>
          <a:xfrm>
            <a:off x="566928" y="6473952"/>
            <a:ext cx="11045952" cy="0"/>
          </a:xfrm>
          <a:prstGeom prst="line">
            <a:avLst/>
          </a:prstGeom>
          <a:ln>
            <a:solidFill>
              <a:srgbClr val="CCD8E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6528816"/>
            <a:ext cx="4754880" cy="164592"/>
          </a:xfrm>
          <a:prstGeom prst="rect">
            <a:avLst/>
          </a:prstGeom>
          <a:noFill/>
        </p:spPr>
        <p:txBody>
          <a:bodyPr wrap="square" lIns="27432" rIns="27432" tIns="27432" bIns="27432" anchor="t">
            <a:spAutoFit/>
          </a:bodyPr>
          <a:lstStyle/>
          <a:p>
            <a:pPr algn="l">
              <a:spcAft>
                <a:spcPts val="200"/>
              </a:spcAft>
              <a:defRPr sz="750" b="1">
                <a:solidFill>
                  <a:srgbClr val="60748C"/>
                </a:solidFill>
                <a:latin typeface="Aptos"/>
              </a:defRPr>
            </a:pPr>
            <a:r>
              <a:t>CENTRI  /  CENTRAL ROUTING INTELLIGENCE</a:t>
            </a:r>
          </a:p>
        </p:txBody>
      </p:sp>
      <p:sp>
        <p:nvSpPr>
          <p:cNvPr id="31" name="TextBox 30"/>
          <p:cNvSpPr txBox="1"/>
          <p:nvPr/>
        </p:nvSpPr>
        <p:spPr>
          <a:xfrm>
            <a:off x="5074920" y="6528816"/>
            <a:ext cx="6126480" cy="164592"/>
          </a:xfrm>
          <a:prstGeom prst="rect">
            <a:avLst/>
          </a:prstGeom>
          <a:noFill/>
        </p:spPr>
        <p:txBody>
          <a:bodyPr wrap="square" lIns="27432" rIns="27432" tIns="27432" bIns="27432" anchor="t">
            <a:spAutoFit/>
          </a:bodyPr>
          <a:lstStyle/>
          <a:p>
            <a:pPr algn="r">
              <a:spcAft>
                <a:spcPts val="200"/>
              </a:spcAft>
              <a:defRPr sz="720" b="0">
                <a:solidFill>
                  <a:srgbClr val="60748C"/>
                </a:solidFill>
                <a:latin typeface="Aptos"/>
              </a:defRPr>
            </a:pPr>
            <a:r>
              <a:t>FAISS official docs: IndexFlatIP exact; HNSW / IVF trade speed, memory, and recall</a:t>
            </a:r>
          </a:p>
        </p:txBody>
      </p:sp>
      <p:sp>
        <p:nvSpPr>
          <p:cNvPr id="32" name="TextBox 31"/>
          <p:cNvSpPr txBox="1"/>
          <p:nvPr/>
        </p:nvSpPr>
        <p:spPr>
          <a:xfrm>
            <a:off x="11356848" y="6501384"/>
            <a:ext cx="274320" cy="182880"/>
          </a:xfrm>
          <a:prstGeom prst="rect">
            <a:avLst/>
          </a:prstGeom>
          <a:noFill/>
        </p:spPr>
        <p:txBody>
          <a:bodyPr wrap="square" lIns="27432" rIns="27432" tIns="27432" bIns="27432" anchor="t">
            <a:spAutoFit/>
          </a:bodyPr>
          <a:lstStyle/>
          <a:p>
            <a:pPr algn="r">
              <a:spcAft>
                <a:spcPts val="200"/>
              </a:spcAft>
              <a:defRPr sz="800" b="1">
                <a:solidFill>
                  <a:srgbClr val="60748C"/>
                </a:solidFill>
                <a:latin typeface="Apto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10896"/>
            <a:ext cx="4114800" cy="228600"/>
          </a:xfrm>
          <a:prstGeom prst="rect">
            <a:avLst/>
          </a:prstGeom>
          <a:noFill/>
        </p:spPr>
        <p:txBody>
          <a:bodyPr wrap="square" lIns="27432" rIns="27432" tIns="27432" bIns="27432" anchor="t">
            <a:spAutoFit/>
          </a:bodyPr>
          <a:lstStyle/>
          <a:p>
            <a:pPr algn="l">
              <a:spcAft>
                <a:spcPts val="200"/>
              </a:spcAft>
              <a:defRPr sz="900" b="1">
                <a:solidFill>
                  <a:srgbClr val="3077DD"/>
                </a:solidFill>
                <a:latin typeface="Aptos"/>
              </a:defRPr>
            </a:pPr>
            <a:r>
              <a:t>WHERE CENTRI FITS</a:t>
            </a:r>
          </a:p>
        </p:txBody>
      </p:sp>
      <p:sp>
        <p:nvSpPr>
          <p:cNvPr id="3" name="TextBox 2"/>
          <p:cNvSpPr txBox="1"/>
          <p:nvPr/>
        </p:nvSpPr>
        <p:spPr>
          <a:xfrm>
            <a:off x="566928" y="594360"/>
            <a:ext cx="10881360" cy="502920"/>
          </a:xfrm>
          <a:prstGeom prst="rect">
            <a:avLst/>
          </a:prstGeom>
          <a:noFill/>
        </p:spPr>
        <p:txBody>
          <a:bodyPr wrap="square" lIns="27432" rIns="27432" tIns="27432" bIns="27432" anchor="t">
            <a:spAutoFit/>
          </a:bodyPr>
          <a:lstStyle/>
          <a:p>
            <a:pPr algn="l">
              <a:spcAft>
                <a:spcPts val="200"/>
              </a:spcAft>
              <a:defRPr sz="2600" b="1">
                <a:solidFill>
                  <a:srgbClr val="121F34"/>
                </a:solidFill>
                <a:latin typeface="Aptos"/>
              </a:defRPr>
            </a:pPr>
            <a:r>
              <a:t>Not an LLM replacement — a routing control plane</a:t>
            </a:r>
          </a:p>
        </p:txBody>
      </p:sp>
      <p:sp>
        <p:nvSpPr>
          <p:cNvPr id="4" name="TextBox 3"/>
          <p:cNvSpPr txBox="1"/>
          <p:nvPr/>
        </p:nvSpPr>
        <p:spPr>
          <a:xfrm>
            <a:off x="594360" y="1143000"/>
            <a:ext cx="10881360" cy="329184"/>
          </a:xfrm>
          <a:prstGeom prst="rect">
            <a:avLst/>
          </a:prstGeom>
          <a:noFill/>
        </p:spPr>
        <p:txBody>
          <a:bodyPr wrap="square" lIns="27432" rIns="27432" tIns="27432" bIns="27432" anchor="t">
            <a:spAutoFit/>
          </a:bodyPr>
          <a:lstStyle/>
          <a:p>
            <a:pPr algn="l">
              <a:spcAft>
                <a:spcPts val="200"/>
              </a:spcAft>
              <a:defRPr sz="1200" b="0">
                <a:solidFill>
                  <a:srgbClr val="60748C"/>
                </a:solidFill>
                <a:latin typeface="Aptos"/>
              </a:defRPr>
            </a:pPr>
            <a:r>
              <a:t>Each primitive is useful; CentRI composes them for an open, changing agent catalog.</a:t>
            </a:r>
          </a:p>
        </p:txBody>
      </p:sp>
      <p:sp>
        <p:nvSpPr>
          <p:cNvPr id="5" name="TextBox 4"/>
          <p:cNvSpPr txBox="1"/>
          <p:nvPr/>
        </p:nvSpPr>
        <p:spPr>
          <a:xfrm>
            <a:off x="685800" y="1691640"/>
            <a:ext cx="1371600" cy="228600"/>
          </a:xfrm>
          <a:prstGeom prst="rect">
            <a:avLst/>
          </a:prstGeom>
          <a:noFill/>
        </p:spPr>
        <p:txBody>
          <a:bodyPr wrap="square" lIns="27432" rIns="27432" tIns="27432" bIns="27432" anchor="t">
            <a:spAutoFit/>
          </a:bodyPr>
          <a:lstStyle/>
          <a:p>
            <a:pPr algn="l">
              <a:spcAft>
                <a:spcPts val="200"/>
              </a:spcAft>
              <a:defRPr sz="1200" b="1">
                <a:solidFill>
                  <a:srgbClr val="121F34"/>
                </a:solidFill>
                <a:latin typeface="Aptos"/>
              </a:defRPr>
            </a:pPr>
            <a:r>
              <a:t>Approach</a:t>
            </a:r>
          </a:p>
        </p:txBody>
      </p:sp>
      <p:sp>
        <p:nvSpPr>
          <p:cNvPr id="6" name="TextBox 5"/>
          <p:cNvSpPr txBox="1"/>
          <p:nvPr/>
        </p:nvSpPr>
        <p:spPr>
          <a:xfrm>
            <a:off x="2331720" y="1691640"/>
            <a:ext cx="2011680" cy="228600"/>
          </a:xfrm>
          <a:prstGeom prst="rect">
            <a:avLst/>
          </a:prstGeom>
          <a:noFill/>
        </p:spPr>
        <p:txBody>
          <a:bodyPr wrap="square" lIns="27432" rIns="27432" tIns="27432" bIns="27432" anchor="t">
            <a:spAutoFit/>
          </a:bodyPr>
          <a:lstStyle/>
          <a:p>
            <a:pPr algn="l">
              <a:spcAft>
                <a:spcPts val="200"/>
              </a:spcAft>
              <a:defRPr sz="1200" b="1">
                <a:solidFill>
                  <a:srgbClr val="121F34"/>
                </a:solidFill>
                <a:latin typeface="Aptos"/>
              </a:defRPr>
            </a:pPr>
            <a:r>
              <a:t>Best at</a:t>
            </a:r>
          </a:p>
        </p:txBody>
      </p:sp>
      <p:sp>
        <p:nvSpPr>
          <p:cNvPr id="7" name="TextBox 6"/>
          <p:cNvSpPr txBox="1"/>
          <p:nvPr/>
        </p:nvSpPr>
        <p:spPr>
          <a:xfrm>
            <a:off x="4572000" y="1691640"/>
            <a:ext cx="2468880" cy="228600"/>
          </a:xfrm>
          <a:prstGeom prst="rect">
            <a:avLst/>
          </a:prstGeom>
          <a:noFill/>
        </p:spPr>
        <p:txBody>
          <a:bodyPr wrap="square" lIns="27432" rIns="27432" tIns="27432" bIns="27432" anchor="t">
            <a:spAutoFit/>
          </a:bodyPr>
          <a:lstStyle/>
          <a:p>
            <a:pPr algn="l">
              <a:spcAft>
                <a:spcPts val="200"/>
              </a:spcAft>
              <a:defRPr sz="1200" b="1">
                <a:solidFill>
                  <a:srgbClr val="121F34"/>
                </a:solidFill>
                <a:latin typeface="Aptos"/>
              </a:defRPr>
            </a:pPr>
            <a:r>
              <a:t>Breaks down when</a:t>
            </a:r>
          </a:p>
        </p:txBody>
      </p:sp>
      <p:sp>
        <p:nvSpPr>
          <p:cNvPr id="8" name="TextBox 7"/>
          <p:cNvSpPr txBox="1"/>
          <p:nvPr/>
        </p:nvSpPr>
        <p:spPr>
          <a:xfrm>
            <a:off x="7315200" y="1691640"/>
            <a:ext cx="4069080" cy="228600"/>
          </a:xfrm>
          <a:prstGeom prst="rect">
            <a:avLst/>
          </a:prstGeom>
          <a:noFill/>
        </p:spPr>
        <p:txBody>
          <a:bodyPr wrap="square" lIns="27432" rIns="27432" tIns="27432" bIns="27432" anchor="t">
            <a:spAutoFit/>
          </a:bodyPr>
          <a:lstStyle/>
          <a:p>
            <a:pPr algn="l">
              <a:spcAft>
                <a:spcPts val="200"/>
              </a:spcAft>
              <a:defRPr sz="1200" b="1">
                <a:solidFill>
                  <a:srgbClr val="121F34"/>
                </a:solidFill>
                <a:latin typeface="Aptos"/>
              </a:defRPr>
            </a:pPr>
            <a:r>
              <a:t>CentRI response</a:t>
            </a:r>
          </a:p>
        </p:txBody>
      </p:sp>
      <p:cxnSp>
        <p:nvCxnSpPr>
          <p:cNvPr id="9" name="Connector 8"/>
          <p:cNvCxnSpPr/>
          <p:nvPr/>
        </p:nvCxnSpPr>
        <p:spPr>
          <a:xfrm>
            <a:off x="685800" y="1993392"/>
            <a:ext cx="10789920" cy="0"/>
          </a:xfrm>
          <a:prstGeom prst="line">
            <a:avLst/>
          </a:prstGeom>
          <a:ln>
            <a:solidFill>
              <a:srgbClr val="CCD8E5"/>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85800" y="2176272"/>
            <a:ext cx="10789920" cy="612648"/>
          </a:xfrm>
          <a:prstGeom prst="roundRect">
            <a:avLst>
              <a:gd name="adj" fmla="val 12000"/>
            </a:avLst>
          </a:prstGeom>
          <a:solidFill>
            <a:srgbClr val="FFE6E6"/>
          </a:solidFill>
          <a:ln w="12700">
            <a:solidFill>
              <a:srgbClr val="BE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340864"/>
            <a:ext cx="1234440" cy="182880"/>
          </a:xfrm>
          <a:prstGeom prst="rect">
            <a:avLst/>
          </a:prstGeom>
          <a:noFill/>
        </p:spPr>
        <p:txBody>
          <a:bodyPr wrap="square" lIns="27432" rIns="27432" tIns="27432" bIns="27432" anchor="t">
            <a:spAutoFit/>
          </a:bodyPr>
          <a:lstStyle/>
          <a:p>
            <a:pPr algn="l">
              <a:spcAft>
                <a:spcPts val="200"/>
              </a:spcAft>
              <a:defRPr sz="1150" b="1">
                <a:solidFill>
                  <a:srgbClr val="BE3434"/>
                </a:solidFill>
                <a:latin typeface="Aptos"/>
              </a:defRPr>
            </a:pPr>
            <a:r>
              <a:t>Prompt-all LLM</a:t>
            </a:r>
          </a:p>
        </p:txBody>
      </p:sp>
      <p:sp>
        <p:nvSpPr>
          <p:cNvPr id="12" name="TextBox 11"/>
          <p:cNvSpPr txBox="1"/>
          <p:nvPr/>
        </p:nvSpPr>
        <p:spPr>
          <a:xfrm>
            <a:off x="2331720" y="2286000"/>
            <a:ext cx="1965960" cy="320040"/>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Open-ended reasoning</a:t>
            </a:r>
          </a:p>
        </p:txBody>
      </p:sp>
      <p:sp>
        <p:nvSpPr>
          <p:cNvPr id="13" name="TextBox 12"/>
          <p:cNvSpPr txBox="1"/>
          <p:nvPr/>
        </p:nvSpPr>
        <p:spPr>
          <a:xfrm>
            <a:off x="4572000" y="2286000"/>
            <a:ext cx="2468880" cy="347472"/>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Catalog prompt grows; ambiguity and token cost grow</a:t>
            </a:r>
          </a:p>
        </p:txBody>
      </p:sp>
      <p:sp>
        <p:nvSpPr>
          <p:cNvPr id="14" name="TextBox 13"/>
          <p:cNvSpPr txBox="1"/>
          <p:nvPr/>
        </p:nvSpPr>
        <p:spPr>
          <a:xfrm>
            <a:off x="7315200" y="2286000"/>
            <a:ext cx="3840480" cy="347472"/>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Remove the catalog from the prompt; retrieve candidates first</a:t>
            </a:r>
          </a:p>
        </p:txBody>
      </p:sp>
      <p:sp>
        <p:nvSpPr>
          <p:cNvPr id="15" name="Rounded Rectangle 14"/>
          <p:cNvSpPr/>
          <p:nvPr/>
        </p:nvSpPr>
        <p:spPr>
          <a:xfrm>
            <a:off x="685800" y="2971800"/>
            <a:ext cx="10789920" cy="612648"/>
          </a:xfrm>
          <a:prstGeom prst="roundRect">
            <a:avLst>
              <a:gd name="adj" fmla="val 12000"/>
            </a:avLst>
          </a:prstGeom>
          <a:solidFill>
            <a:srgbClr val="FFF4D3"/>
          </a:solidFill>
          <a:ln w="12700">
            <a:solidFill>
              <a:srgbClr val="BE73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136392"/>
            <a:ext cx="1234440" cy="182880"/>
          </a:xfrm>
          <a:prstGeom prst="rect">
            <a:avLst/>
          </a:prstGeom>
          <a:noFill/>
        </p:spPr>
        <p:txBody>
          <a:bodyPr wrap="square" lIns="27432" rIns="27432" tIns="27432" bIns="27432" anchor="t">
            <a:spAutoFit/>
          </a:bodyPr>
          <a:lstStyle/>
          <a:p>
            <a:pPr algn="l">
              <a:spcAft>
                <a:spcPts val="200"/>
              </a:spcAft>
              <a:defRPr sz="1150" b="1">
                <a:solidFill>
                  <a:srgbClr val="BE730C"/>
                </a:solidFill>
                <a:latin typeface="Aptos"/>
              </a:defRPr>
            </a:pPr>
            <a:r>
              <a:t>Flat classifier</a:t>
            </a:r>
          </a:p>
        </p:txBody>
      </p:sp>
      <p:sp>
        <p:nvSpPr>
          <p:cNvPr id="17" name="TextBox 16"/>
          <p:cNvSpPr txBox="1"/>
          <p:nvPr/>
        </p:nvSpPr>
        <p:spPr>
          <a:xfrm>
            <a:off x="2331720" y="3081528"/>
            <a:ext cx="1965960" cy="320040"/>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Fast fixed labels</a:t>
            </a:r>
          </a:p>
        </p:txBody>
      </p:sp>
      <p:sp>
        <p:nvSpPr>
          <p:cNvPr id="18" name="TextBox 17"/>
          <p:cNvSpPr txBox="1"/>
          <p:nvPr/>
        </p:nvSpPr>
        <p:spPr>
          <a:xfrm>
            <a:off x="4572000" y="3081528"/>
            <a:ext cx="2468880" cy="347472"/>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New agents require labels, data, retraining</a:t>
            </a:r>
          </a:p>
        </p:txBody>
      </p:sp>
      <p:sp>
        <p:nvSpPr>
          <p:cNvPr id="19" name="TextBox 18"/>
          <p:cNvSpPr txBox="1"/>
          <p:nvPr/>
        </p:nvSpPr>
        <p:spPr>
          <a:xfrm>
            <a:off x="7315200" y="3081528"/>
            <a:ext cx="3840480" cy="347472"/>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Compile new agents incrementally from schemas + examples</a:t>
            </a:r>
          </a:p>
        </p:txBody>
      </p:sp>
      <p:sp>
        <p:nvSpPr>
          <p:cNvPr id="20" name="Rounded Rectangle 19"/>
          <p:cNvSpPr/>
          <p:nvPr/>
        </p:nvSpPr>
        <p:spPr>
          <a:xfrm>
            <a:off x="685800" y="3767328"/>
            <a:ext cx="10789920" cy="612648"/>
          </a:xfrm>
          <a:prstGeom prst="roundRect">
            <a:avLst>
              <a:gd name="adj" fmla="val 12000"/>
            </a:avLst>
          </a:prstGeom>
          <a:solidFill>
            <a:srgbClr val="EFE9FD"/>
          </a:solidFill>
          <a:ln w="12700">
            <a:solidFill>
              <a:srgbClr val="714A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931920"/>
            <a:ext cx="1234440" cy="182880"/>
          </a:xfrm>
          <a:prstGeom prst="rect">
            <a:avLst/>
          </a:prstGeom>
          <a:noFill/>
        </p:spPr>
        <p:txBody>
          <a:bodyPr wrap="square" lIns="27432" rIns="27432" tIns="27432" bIns="27432" anchor="t">
            <a:spAutoFit/>
          </a:bodyPr>
          <a:lstStyle/>
          <a:p>
            <a:pPr algn="l">
              <a:spcAft>
                <a:spcPts val="200"/>
              </a:spcAft>
              <a:defRPr sz="1150" b="1">
                <a:solidFill>
                  <a:srgbClr val="714AB9"/>
                </a:solidFill>
                <a:latin typeface="Aptos"/>
              </a:defRPr>
            </a:pPr>
            <a:r>
              <a:t>Jev-style choice</a:t>
            </a:r>
          </a:p>
        </p:txBody>
      </p:sp>
      <p:sp>
        <p:nvSpPr>
          <p:cNvPr id="22" name="TextBox 21"/>
          <p:cNvSpPr txBox="1"/>
          <p:nvPr/>
        </p:nvSpPr>
        <p:spPr>
          <a:xfrm>
            <a:off x="2331720" y="3877056"/>
            <a:ext cx="1965960" cy="320040"/>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Typed, parallel bounded decisions</a:t>
            </a:r>
          </a:p>
        </p:txBody>
      </p:sp>
      <p:sp>
        <p:nvSpPr>
          <p:cNvPr id="23" name="TextBox 22"/>
          <p:cNvSpPr txBox="1"/>
          <p:nvPr/>
        </p:nvSpPr>
        <p:spPr>
          <a:xfrm>
            <a:off x="4572000" y="3877056"/>
            <a:ext cx="2468880" cy="347472"/>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Choice surface is enumerated; public interface documents ≤255 options</a:t>
            </a:r>
          </a:p>
        </p:txBody>
      </p:sp>
      <p:sp>
        <p:nvSpPr>
          <p:cNvPr id="24" name="TextBox 23"/>
          <p:cNvSpPr txBox="1"/>
          <p:nvPr/>
        </p:nvSpPr>
        <p:spPr>
          <a:xfrm>
            <a:off x="7315200" y="3877056"/>
            <a:ext cx="3840480" cy="347472"/>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Use candidate discovery before typed choice when A is large</a:t>
            </a:r>
          </a:p>
        </p:txBody>
      </p:sp>
      <p:sp>
        <p:nvSpPr>
          <p:cNvPr id="25" name="Rounded Rectangle 24"/>
          <p:cNvSpPr/>
          <p:nvPr/>
        </p:nvSpPr>
        <p:spPr>
          <a:xfrm>
            <a:off x="685800" y="4562856"/>
            <a:ext cx="10789920" cy="612648"/>
          </a:xfrm>
          <a:prstGeom prst="roundRect">
            <a:avLst>
              <a:gd name="adj" fmla="val 12000"/>
            </a:avLst>
          </a:prstGeom>
          <a:solidFill>
            <a:srgbClr val="DCF7F3"/>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727448"/>
            <a:ext cx="1234440" cy="182880"/>
          </a:xfrm>
          <a:prstGeom prst="rect">
            <a:avLst/>
          </a:prstGeom>
          <a:noFill/>
        </p:spPr>
        <p:txBody>
          <a:bodyPr wrap="square" lIns="27432" rIns="27432" tIns="27432" bIns="27432" anchor="t">
            <a:spAutoFit/>
          </a:bodyPr>
          <a:lstStyle/>
          <a:p>
            <a:pPr algn="l">
              <a:spcAft>
                <a:spcPts val="200"/>
              </a:spcAft>
              <a:defRPr sz="1150" b="1">
                <a:solidFill>
                  <a:srgbClr val="0F766E"/>
                </a:solidFill>
                <a:latin typeface="Aptos"/>
              </a:defRPr>
            </a:pPr>
            <a:r>
              <a:t>CentRI</a:t>
            </a:r>
          </a:p>
        </p:txBody>
      </p:sp>
      <p:sp>
        <p:nvSpPr>
          <p:cNvPr id="27" name="TextBox 26"/>
          <p:cNvSpPr txBox="1"/>
          <p:nvPr/>
        </p:nvSpPr>
        <p:spPr>
          <a:xfrm>
            <a:off x="2331720" y="4672584"/>
            <a:ext cx="1965960" cy="320040"/>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Open-catalog semantic routing</a:t>
            </a:r>
          </a:p>
        </p:txBody>
      </p:sp>
      <p:sp>
        <p:nvSpPr>
          <p:cNvPr id="28" name="TextBox 27"/>
          <p:cNvSpPr txBox="1"/>
          <p:nvPr/>
        </p:nvSpPr>
        <p:spPr>
          <a:xfrm>
            <a:off x="4572000" y="4672584"/>
            <a:ext cx="2468880" cy="347472"/>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Current PoC still needs ANN, evaluation, security, real handoff</a:t>
            </a:r>
          </a:p>
        </p:txBody>
      </p:sp>
      <p:sp>
        <p:nvSpPr>
          <p:cNvPr id="29" name="TextBox 28"/>
          <p:cNvSpPr txBox="1"/>
          <p:nvPr/>
        </p:nvSpPr>
        <p:spPr>
          <a:xfrm>
            <a:off x="7315200" y="4672584"/>
            <a:ext cx="3840480" cy="347472"/>
          </a:xfrm>
          <a:prstGeom prst="rect">
            <a:avLst/>
          </a:prstGeom>
          <a:noFill/>
        </p:spPr>
        <p:txBody>
          <a:bodyPr wrap="square" lIns="27432" rIns="27432" tIns="27432" bIns="27432" anchor="t">
            <a:spAutoFit/>
          </a:bodyPr>
          <a:lstStyle/>
          <a:p>
            <a:pPr algn="l">
              <a:spcAft>
                <a:spcPts val="200"/>
              </a:spcAft>
              <a:defRPr sz="1100" b="1">
                <a:solidFill>
                  <a:srgbClr val="203047"/>
                </a:solidFill>
                <a:latin typeface="Aptos"/>
              </a:defRPr>
            </a:pPr>
            <a:r>
              <a:t>One entry point → Top-K retrieval → focused disambiguation</a:t>
            </a:r>
          </a:p>
        </p:txBody>
      </p:sp>
      <p:sp>
        <p:nvSpPr>
          <p:cNvPr id="30" name="Rounded Rectangle 29"/>
          <p:cNvSpPr/>
          <p:nvPr/>
        </p:nvSpPr>
        <p:spPr>
          <a:xfrm>
            <a:off x="685800" y="5623560"/>
            <a:ext cx="10789920" cy="502920"/>
          </a:xfrm>
          <a:prstGeom prst="roundRect">
            <a:avLst>
              <a:gd name="adj" fmla="val 12000"/>
            </a:avLst>
          </a:prstGeom>
          <a:solidFill>
            <a:srgbClr val="121F34"/>
          </a:solidFill>
          <a:ln w="12700">
            <a:solidFill>
              <a:srgbClr val="121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779008"/>
            <a:ext cx="10332720" cy="182880"/>
          </a:xfrm>
          <a:prstGeom prst="rect">
            <a:avLst/>
          </a:prstGeom>
          <a:noFill/>
        </p:spPr>
        <p:txBody>
          <a:bodyPr wrap="square" lIns="27432" rIns="27432" tIns="27432" bIns="27432" anchor="t">
            <a:spAutoFit/>
          </a:bodyPr>
          <a:lstStyle/>
          <a:p>
            <a:pPr algn="ctr">
              <a:spcAft>
                <a:spcPts val="200"/>
              </a:spcAft>
              <a:defRPr sz="1500" b="1">
                <a:solidFill>
                  <a:srgbClr val="FFFFFF"/>
                </a:solidFill>
                <a:latin typeface="Aptos"/>
              </a:defRPr>
            </a:pPr>
            <a:r>
              <a:t>Key idea: candidate discovery and candidate choice are different problems.</a:t>
            </a:r>
          </a:p>
        </p:txBody>
      </p:sp>
      <p:cxnSp>
        <p:nvCxnSpPr>
          <p:cNvPr id="32" name="Connector 31"/>
          <p:cNvCxnSpPr/>
          <p:nvPr/>
        </p:nvCxnSpPr>
        <p:spPr>
          <a:xfrm>
            <a:off x="566928" y="6473952"/>
            <a:ext cx="11045952" cy="0"/>
          </a:xfrm>
          <a:prstGeom prst="line">
            <a:avLst/>
          </a:prstGeom>
          <a:ln>
            <a:solidFill>
              <a:srgbClr val="CCD8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94360" y="6528816"/>
            <a:ext cx="4754880" cy="164592"/>
          </a:xfrm>
          <a:prstGeom prst="rect">
            <a:avLst/>
          </a:prstGeom>
          <a:noFill/>
        </p:spPr>
        <p:txBody>
          <a:bodyPr wrap="square" lIns="27432" rIns="27432" tIns="27432" bIns="27432" anchor="t">
            <a:spAutoFit/>
          </a:bodyPr>
          <a:lstStyle/>
          <a:p>
            <a:pPr algn="l">
              <a:spcAft>
                <a:spcPts val="200"/>
              </a:spcAft>
              <a:defRPr sz="750" b="1">
                <a:solidFill>
                  <a:srgbClr val="60748C"/>
                </a:solidFill>
                <a:latin typeface="Aptos"/>
              </a:defRPr>
            </a:pPr>
            <a:r>
              <a:t>CENTRI  /  CENTRAL ROUTING INTELLIGENCE</a:t>
            </a:r>
          </a:p>
        </p:txBody>
      </p:sp>
      <p:sp>
        <p:nvSpPr>
          <p:cNvPr id="34" name="TextBox 33"/>
          <p:cNvSpPr txBox="1"/>
          <p:nvPr/>
        </p:nvSpPr>
        <p:spPr>
          <a:xfrm>
            <a:off x="5074920" y="6528816"/>
            <a:ext cx="6126480" cy="164592"/>
          </a:xfrm>
          <a:prstGeom prst="rect">
            <a:avLst/>
          </a:prstGeom>
          <a:noFill/>
        </p:spPr>
        <p:txBody>
          <a:bodyPr wrap="square" lIns="27432" rIns="27432" tIns="27432" bIns="27432" anchor="t">
            <a:spAutoFit/>
          </a:bodyPr>
          <a:lstStyle/>
          <a:p>
            <a:pPr algn="r">
              <a:spcAft>
                <a:spcPts val="200"/>
              </a:spcAft>
              <a:defRPr sz="720" b="0">
                <a:solidFill>
                  <a:srgbClr val="60748C"/>
                </a:solidFill>
                <a:latin typeface="Aptos"/>
              </a:defRPr>
            </a:pPr>
            <a:r>
              <a:t>Jev architecture reference: jevtypesafeai.com/jev/architecture</a:t>
            </a:r>
          </a:p>
        </p:txBody>
      </p:sp>
      <p:sp>
        <p:nvSpPr>
          <p:cNvPr id="35" name="TextBox 34"/>
          <p:cNvSpPr txBox="1"/>
          <p:nvPr/>
        </p:nvSpPr>
        <p:spPr>
          <a:xfrm>
            <a:off x="11356848" y="6501384"/>
            <a:ext cx="274320" cy="182880"/>
          </a:xfrm>
          <a:prstGeom prst="rect">
            <a:avLst/>
          </a:prstGeom>
          <a:noFill/>
        </p:spPr>
        <p:txBody>
          <a:bodyPr wrap="square" lIns="27432" rIns="27432" tIns="27432" bIns="27432" anchor="t">
            <a:spAutoFit/>
          </a:bodyPr>
          <a:lstStyle/>
          <a:p>
            <a:pPr algn="r">
              <a:spcAft>
                <a:spcPts val="200"/>
              </a:spcAft>
              <a:defRPr sz="800" b="1">
                <a:solidFill>
                  <a:srgbClr val="60748C"/>
                </a:solidFill>
                <a:latin typeface="Apto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F34"/>
        </a:solidFill>
        <a:effectLst/>
      </p:bgPr>
    </p:bg>
    <p:spTree>
      <p:nvGrpSpPr>
        <p:cNvPr id="1" name=""/>
        <p:cNvGrpSpPr/>
        <p:nvPr/>
      </p:nvGrpSpPr>
      <p:grpSpPr/>
      <p:sp>
        <p:nvSpPr>
          <p:cNvPr id="2" name="TextBox 1"/>
          <p:cNvSpPr txBox="1"/>
          <p:nvPr/>
        </p:nvSpPr>
        <p:spPr>
          <a:xfrm>
            <a:off x="566928" y="310896"/>
            <a:ext cx="4114800" cy="228600"/>
          </a:xfrm>
          <a:prstGeom prst="rect">
            <a:avLst/>
          </a:prstGeom>
          <a:noFill/>
        </p:spPr>
        <p:txBody>
          <a:bodyPr wrap="square" lIns="27432" rIns="27432" tIns="27432" bIns="27432" anchor="t">
            <a:spAutoFit/>
          </a:bodyPr>
          <a:lstStyle/>
          <a:p>
            <a:pPr algn="l">
              <a:spcAft>
                <a:spcPts val="200"/>
              </a:spcAft>
              <a:defRPr sz="900" b="1">
                <a:solidFill>
                  <a:srgbClr val="E0EEFF"/>
                </a:solidFill>
                <a:latin typeface="Aptos"/>
              </a:defRPr>
            </a:pPr>
            <a:r>
              <a:t>FROM POC TO PLATFORM</a:t>
            </a:r>
          </a:p>
        </p:txBody>
      </p:sp>
      <p:sp>
        <p:nvSpPr>
          <p:cNvPr id="3" name="TextBox 2"/>
          <p:cNvSpPr txBox="1"/>
          <p:nvPr/>
        </p:nvSpPr>
        <p:spPr>
          <a:xfrm>
            <a:off x="566928" y="594360"/>
            <a:ext cx="10881360" cy="502920"/>
          </a:xfrm>
          <a:prstGeom prst="rect">
            <a:avLst/>
          </a:prstGeom>
          <a:noFill/>
        </p:spPr>
        <p:txBody>
          <a:bodyPr wrap="square" lIns="27432" rIns="27432" tIns="27432" bIns="27432" anchor="t">
            <a:spAutoFit/>
          </a:bodyPr>
          <a:lstStyle/>
          <a:p>
            <a:pPr algn="l">
              <a:spcAft>
                <a:spcPts val="200"/>
              </a:spcAft>
              <a:defRPr sz="2600" b="1">
                <a:solidFill>
                  <a:srgbClr val="FFFFFF"/>
                </a:solidFill>
                <a:latin typeface="Aptos"/>
              </a:defRPr>
            </a:pPr>
            <a:r>
              <a:t>What exists today — and what proves the thesis</a:t>
            </a:r>
          </a:p>
        </p:txBody>
      </p:sp>
      <p:sp>
        <p:nvSpPr>
          <p:cNvPr id="4" name="TextBox 3"/>
          <p:cNvSpPr txBox="1"/>
          <p:nvPr/>
        </p:nvSpPr>
        <p:spPr>
          <a:xfrm>
            <a:off x="594360" y="1143000"/>
            <a:ext cx="10881360" cy="329184"/>
          </a:xfrm>
          <a:prstGeom prst="rect">
            <a:avLst/>
          </a:prstGeom>
          <a:noFill/>
        </p:spPr>
        <p:txBody>
          <a:bodyPr wrap="square" lIns="27432" rIns="27432" tIns="27432" bIns="27432" anchor="t">
            <a:spAutoFit/>
          </a:bodyPr>
          <a:lstStyle/>
          <a:p>
            <a:pPr algn="l">
              <a:spcAft>
                <a:spcPts val="200"/>
              </a:spcAft>
              <a:defRPr sz="1200" b="0">
                <a:solidFill>
                  <a:srgbClr val="BED0E5"/>
                </a:solidFill>
                <a:latin typeface="Aptos"/>
              </a:defRPr>
            </a:pPr>
            <a:r>
              <a:t>The architecture is in place; the next milestone is evidence plus real handoff.</a:t>
            </a:r>
          </a:p>
        </p:txBody>
      </p:sp>
      <p:sp>
        <p:nvSpPr>
          <p:cNvPr id="5" name="Rounded Rectangle 4"/>
          <p:cNvSpPr/>
          <p:nvPr/>
        </p:nvSpPr>
        <p:spPr>
          <a:xfrm>
            <a:off x="658368" y="1645920"/>
            <a:ext cx="5257800" cy="4160520"/>
          </a:xfrm>
          <a:prstGeom prst="roundRect">
            <a:avLst>
              <a:gd name="adj" fmla="val 12000"/>
            </a:avLst>
          </a:prstGeom>
          <a:solidFill>
            <a:srgbClr val="DCF7F3"/>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45920"/>
            <a:ext cx="64008" cy="4160520"/>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773936"/>
            <a:ext cx="4937760" cy="320040"/>
          </a:xfrm>
          <a:prstGeom prst="rect">
            <a:avLst/>
          </a:prstGeom>
          <a:noFill/>
        </p:spPr>
        <p:txBody>
          <a:bodyPr wrap="square" lIns="27432" rIns="27432" tIns="27432" bIns="27432" anchor="t">
            <a:spAutoFit/>
          </a:bodyPr>
          <a:lstStyle/>
          <a:p>
            <a:pPr algn="l">
              <a:spcAft>
                <a:spcPts val="200"/>
              </a:spcAft>
              <a:defRPr sz="1400" b="1">
                <a:solidFill>
                  <a:srgbClr val="0F766E"/>
                </a:solidFill>
                <a:latin typeface="Aptos"/>
              </a:defRPr>
            </a:pPr>
            <a:r>
              <a:t>BUILT IN THE REPOSITORY</a:t>
            </a:r>
          </a:p>
        </p:txBody>
      </p:sp>
      <p:sp>
        <p:nvSpPr>
          <p:cNvPr id="8" name="TextBox 7"/>
          <p:cNvSpPr txBox="1"/>
          <p:nvPr/>
        </p:nvSpPr>
        <p:spPr>
          <a:xfrm>
            <a:off x="841247" y="2148840"/>
            <a:ext cx="4937760" cy="3538727"/>
          </a:xfrm>
          <a:prstGeom prst="rect">
            <a:avLst/>
          </a:prstGeom>
          <a:noFill/>
        </p:spPr>
        <p:txBody>
          <a:bodyPr wrap="square" lIns="27432" rIns="27432" tIns="27432" bIns="27432" anchor="t">
            <a:spAutoFit/>
          </a:bodyPr>
          <a:lstStyle/>
          <a:p>
            <a:pPr algn="l">
              <a:spcAft>
                <a:spcPts val="200"/>
              </a:spcAft>
              <a:defRPr sz="1350" b="0">
                <a:solidFill>
                  <a:srgbClr val="203047"/>
                </a:solidFill>
                <a:latin typeface="Aptos"/>
              </a:defRPr>
            </a:pPr>
            <a:r>
              <a:t>✓ 10-agent JSON catalog</a:t>
            </a:r>
          </a:p>
          <a:p>
            <a:pPr algn="l">
              <a:spcAft>
                <a:spcPts val="200"/>
              </a:spcAft>
              <a:defRPr sz="1350" b="0">
                <a:solidFill>
                  <a:srgbClr val="203047"/>
                </a:solidFill>
                <a:latin typeface="Aptos"/>
              </a:defRPr>
            </a:pPr>
            <a:r>
              <a:t>✓ Nebius embeddings + chat client</a:t>
            </a:r>
          </a:p>
          <a:p>
            <a:pPr algn="l">
              <a:spcAft>
                <a:spcPts val="200"/>
              </a:spcAft>
              <a:defRPr sz="1350" b="0">
                <a:solidFill>
                  <a:srgbClr val="203047"/>
                </a:solidFill>
                <a:latin typeface="Aptos"/>
              </a:defRPr>
            </a:pPr>
            <a:r>
              <a:t>✓ Optional Tavily synthesis grounding</a:t>
            </a:r>
          </a:p>
          <a:p>
            <a:pPr algn="l">
              <a:spcAft>
                <a:spcPts val="200"/>
              </a:spcAft>
              <a:defRPr sz="1350" b="0">
                <a:solidFill>
                  <a:srgbClr val="203047"/>
                </a:solidFill>
                <a:latin typeface="Aptos"/>
              </a:defRPr>
            </a:pPr>
            <a:r>
              <a:t>✓ Contrastive query-generation design</a:t>
            </a:r>
          </a:p>
          <a:p>
            <a:pPr algn="l">
              <a:spcAft>
                <a:spcPts val="200"/>
              </a:spcAft>
              <a:defRPr sz="1350" b="0">
                <a:solidFill>
                  <a:srgbClr val="203047"/>
                </a:solidFill>
                <a:latin typeface="Aptos"/>
              </a:defRPr>
            </a:pPr>
            <a:r>
              <a:t>✓ FAISS vector index and metadata</a:t>
            </a:r>
          </a:p>
          <a:p>
            <a:pPr algn="l">
              <a:spcAft>
                <a:spcPts val="200"/>
              </a:spcAft>
              <a:defRPr sz="1350" b="0">
                <a:solidFill>
                  <a:srgbClr val="203047"/>
                </a:solidFill>
                <a:latin typeface="Aptos"/>
              </a:defRPr>
            </a:pPr>
            <a:r>
              <a:t>✓ Intent splitting + Top-K retrieval</a:t>
            </a:r>
          </a:p>
          <a:p>
            <a:pPr algn="l">
              <a:spcAft>
                <a:spcPts val="200"/>
              </a:spcAft>
              <a:defRPr sz="1350" b="0">
                <a:solidFill>
                  <a:srgbClr val="203047"/>
                </a:solidFill>
                <a:latin typeface="Aptos"/>
              </a:defRPr>
            </a:pPr>
            <a:r>
              <a:t>✓ Top-3 micro-LLM reranking</a:t>
            </a:r>
          </a:p>
          <a:p>
            <a:pPr algn="l">
              <a:spcAft>
                <a:spcPts val="200"/>
              </a:spcAft>
              <a:defRPr sz="1350" b="0">
                <a:solidFill>
                  <a:srgbClr val="203047"/>
                </a:solidFill>
                <a:latin typeface="Aptos"/>
              </a:defRPr>
            </a:pPr>
            <a:r>
              <a:t>✓ /route, /chat, /catalog, /agents</a:t>
            </a:r>
          </a:p>
          <a:p>
            <a:pPr algn="l">
              <a:spcAft>
                <a:spcPts val="200"/>
              </a:spcAft>
              <a:defRPr sz="1350" b="0">
                <a:solidFill>
                  <a:srgbClr val="203047"/>
                </a:solidFill>
                <a:latin typeface="Aptos"/>
              </a:defRPr>
            </a:pPr>
            <a:r>
              <a:t>✓ Shadow logging + correction path</a:t>
            </a:r>
          </a:p>
        </p:txBody>
      </p:sp>
      <p:sp>
        <p:nvSpPr>
          <p:cNvPr id="9" name="Rounded Rectangle 8"/>
          <p:cNvSpPr/>
          <p:nvPr/>
        </p:nvSpPr>
        <p:spPr>
          <a:xfrm>
            <a:off x="6272784" y="1645920"/>
            <a:ext cx="5257800" cy="4160520"/>
          </a:xfrm>
          <a:prstGeom prst="roundRect">
            <a:avLst>
              <a:gd name="adj" fmla="val 12000"/>
            </a:avLst>
          </a:prstGeom>
          <a:solidFill>
            <a:srgbClr val="FFE6E6"/>
          </a:solidFill>
          <a:ln w="12700">
            <a:solidFill>
              <a:srgbClr val="BE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72784" y="1645920"/>
            <a:ext cx="64008" cy="4160520"/>
          </a:xfrm>
          <a:prstGeom prst="rect">
            <a:avLst/>
          </a:prstGeom>
          <a:solidFill>
            <a:srgbClr val="BE3434"/>
          </a:solidFill>
          <a:ln w="12700">
            <a:solidFill>
              <a:srgbClr val="BE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1773936"/>
            <a:ext cx="4937760" cy="320040"/>
          </a:xfrm>
          <a:prstGeom prst="rect">
            <a:avLst/>
          </a:prstGeom>
          <a:noFill/>
        </p:spPr>
        <p:txBody>
          <a:bodyPr wrap="square" lIns="27432" rIns="27432" tIns="27432" bIns="27432" anchor="t">
            <a:spAutoFit/>
          </a:bodyPr>
          <a:lstStyle/>
          <a:p>
            <a:pPr algn="l">
              <a:spcAft>
                <a:spcPts val="200"/>
              </a:spcAft>
              <a:defRPr sz="1400" b="1">
                <a:solidFill>
                  <a:srgbClr val="BE3434"/>
                </a:solidFill>
                <a:latin typeface="Aptos"/>
              </a:defRPr>
            </a:pPr>
            <a:r>
              <a:t>NEXT PROOF POINTS</a:t>
            </a:r>
          </a:p>
        </p:txBody>
      </p:sp>
      <p:sp>
        <p:nvSpPr>
          <p:cNvPr id="12" name="TextBox 11"/>
          <p:cNvSpPr txBox="1"/>
          <p:nvPr/>
        </p:nvSpPr>
        <p:spPr>
          <a:xfrm>
            <a:off x="6455664" y="2148840"/>
            <a:ext cx="4937760" cy="3538727"/>
          </a:xfrm>
          <a:prstGeom prst="rect">
            <a:avLst/>
          </a:prstGeom>
          <a:noFill/>
        </p:spPr>
        <p:txBody>
          <a:bodyPr wrap="square" lIns="27432" rIns="27432" tIns="27432" bIns="27432" anchor="t">
            <a:spAutoFit/>
          </a:bodyPr>
          <a:lstStyle/>
          <a:p>
            <a:pPr algn="l">
              <a:spcAft>
                <a:spcPts val="200"/>
              </a:spcAft>
              <a:defRPr sz="1350" b="0">
                <a:solidFill>
                  <a:srgbClr val="203047"/>
                </a:solidFill>
                <a:latin typeface="Aptos"/>
              </a:defRPr>
            </a:pPr>
            <a:r>
              <a:t>1  Connect and test real agent endpoints</a:t>
            </a:r>
          </a:p>
          <a:p>
            <a:pPr algn="l">
              <a:spcAft>
                <a:spcPts val="200"/>
              </a:spcAft>
              <a:defRPr sz="1350" b="0">
                <a:solidFill>
                  <a:srgbClr val="203047"/>
                </a:solidFill>
                <a:latin typeface="Aptos"/>
              </a:defRPr>
            </a:pPr>
            <a:r>
              <a:t>2  Expand golden routing data</a:t>
            </a:r>
          </a:p>
          <a:p>
            <a:pPr algn="l">
              <a:spcAft>
                <a:spcPts val="200"/>
              </a:spcAft>
              <a:defRPr sz="1350" b="0">
                <a:solidFill>
                  <a:srgbClr val="203047"/>
                </a:solidFill>
                <a:latin typeface="Aptos"/>
              </a:defRPr>
            </a:pPr>
            <a:r>
              <a:t>3  Calibrate thresholds and abstention</a:t>
            </a:r>
          </a:p>
          <a:p>
            <a:pPr algn="l">
              <a:spcAft>
                <a:spcPts val="200"/>
              </a:spcAft>
              <a:defRPr sz="1350" b="0">
                <a:solidFill>
                  <a:srgbClr val="203047"/>
                </a:solidFill>
                <a:latin typeface="Aptos"/>
              </a:defRPr>
            </a:pPr>
            <a:r>
              <a:t>4  Add distributed ANN/sharding</a:t>
            </a:r>
          </a:p>
          <a:p>
            <a:pPr algn="l">
              <a:spcAft>
                <a:spcPts val="200"/>
              </a:spcAft>
              <a:defRPr sz="1350" b="0">
                <a:solidFill>
                  <a:srgbClr val="203047"/>
                </a:solidFill>
                <a:latin typeface="Aptos"/>
              </a:defRPr>
            </a:pPr>
            <a:r>
              <a:t>5  Add durable workflow state</a:t>
            </a:r>
          </a:p>
          <a:p>
            <a:pPr algn="l">
              <a:spcAft>
                <a:spcPts val="200"/>
              </a:spcAft>
              <a:defRPr sz="1350" b="0">
                <a:solidFill>
                  <a:srgbClr val="203047"/>
                </a:solidFill>
                <a:latin typeface="Aptos"/>
              </a:defRPr>
            </a:pPr>
            <a:r>
              <a:t>6  Add production tracing and metrics</a:t>
            </a:r>
          </a:p>
          <a:p>
            <a:pPr algn="l">
              <a:spcAft>
                <a:spcPts val="200"/>
              </a:spcAft>
              <a:defRPr sz="1350" b="0">
                <a:solidFill>
                  <a:srgbClr val="203047"/>
                </a:solidFill>
                <a:latin typeface="Aptos"/>
              </a:defRPr>
            </a:pPr>
            <a:r>
              <a:t>7  Harden multi-tenant authorization</a:t>
            </a:r>
          </a:p>
          <a:p>
            <a:pPr algn="l">
              <a:spcAft>
                <a:spcPts val="200"/>
              </a:spcAft>
              <a:defRPr sz="1350" b="0">
                <a:solidFill>
                  <a:srgbClr val="203047"/>
                </a:solidFill>
                <a:latin typeface="Aptos"/>
              </a:defRPr>
            </a:pPr>
            <a:r>
              <a:t>8  Measure 10 / 100 / 1k / 10k agents</a:t>
            </a:r>
          </a:p>
        </p:txBody>
      </p:sp>
      <p:sp>
        <p:nvSpPr>
          <p:cNvPr id="13" name="Rounded Rectangle 12"/>
          <p:cNvSpPr/>
          <p:nvPr/>
        </p:nvSpPr>
        <p:spPr>
          <a:xfrm>
            <a:off x="1115568" y="6053328"/>
            <a:ext cx="9893808" cy="384048"/>
          </a:xfrm>
          <a:prstGeom prst="roundRect">
            <a:avLst>
              <a:gd name="adj" fmla="val 12000"/>
            </a:avLst>
          </a:prstGeom>
          <a:solidFill>
            <a:srgbClr val="3077DD"/>
          </a:solidFill>
          <a:ln w="12700">
            <a:solidFill>
              <a:srgbClr val="30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6144768"/>
            <a:ext cx="9555480" cy="164592"/>
          </a:xfrm>
          <a:prstGeom prst="rect">
            <a:avLst/>
          </a:prstGeom>
          <a:noFill/>
        </p:spPr>
        <p:txBody>
          <a:bodyPr wrap="square" lIns="27432" rIns="27432" tIns="27432" bIns="27432" anchor="t">
            <a:spAutoFit/>
          </a:bodyPr>
          <a:lstStyle/>
          <a:p>
            <a:pPr algn="ctr">
              <a:spcAft>
                <a:spcPts val="200"/>
              </a:spcAft>
              <a:defRPr sz="1250" b="1">
                <a:solidFill>
                  <a:srgbClr val="FFFFFF"/>
                </a:solidFill>
                <a:latin typeface="Aptos"/>
              </a:defRPr>
            </a:pPr>
            <a:r>
              <a:t>Success metric: routing accuracy and recall at a predictable p95 cost — not merely a clever diagram.</a:t>
            </a:r>
          </a:p>
        </p:txBody>
      </p:sp>
      <p:cxnSp>
        <p:nvCxnSpPr>
          <p:cNvPr id="15" name="Connector 14"/>
          <p:cNvCxnSpPr/>
          <p:nvPr/>
        </p:nvCxnSpPr>
        <p:spPr>
          <a:xfrm>
            <a:off x="566928" y="6473952"/>
            <a:ext cx="11045952" cy="0"/>
          </a:xfrm>
          <a:prstGeom prst="line">
            <a:avLst/>
          </a:prstGeom>
          <a:ln>
            <a:solidFill>
              <a:srgbClr val="4B658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528816"/>
            <a:ext cx="4754880" cy="164592"/>
          </a:xfrm>
          <a:prstGeom prst="rect">
            <a:avLst/>
          </a:prstGeom>
          <a:noFill/>
        </p:spPr>
        <p:txBody>
          <a:bodyPr wrap="square" lIns="27432" rIns="27432" tIns="27432" bIns="27432" anchor="t">
            <a:spAutoFit/>
          </a:bodyPr>
          <a:lstStyle/>
          <a:p>
            <a:pPr algn="l">
              <a:spcAft>
                <a:spcPts val="200"/>
              </a:spcAft>
              <a:defRPr sz="750" b="1">
                <a:solidFill>
                  <a:srgbClr val="B8CAE0"/>
                </a:solidFill>
                <a:latin typeface="Aptos"/>
              </a:defRPr>
            </a:pPr>
            <a:r>
              <a:t>CENTRI  /  CENTRAL ROUTING INTELLIGENCE</a:t>
            </a:r>
          </a:p>
        </p:txBody>
      </p:sp>
      <p:sp>
        <p:nvSpPr>
          <p:cNvPr id="17" name="TextBox 16"/>
          <p:cNvSpPr txBox="1"/>
          <p:nvPr/>
        </p:nvSpPr>
        <p:spPr>
          <a:xfrm>
            <a:off x="5074920" y="6528816"/>
            <a:ext cx="6126480" cy="164592"/>
          </a:xfrm>
          <a:prstGeom prst="rect">
            <a:avLst/>
          </a:prstGeom>
          <a:noFill/>
        </p:spPr>
        <p:txBody>
          <a:bodyPr wrap="square" lIns="27432" rIns="27432" tIns="27432" bIns="27432" anchor="t">
            <a:spAutoFit/>
          </a:bodyPr>
          <a:lstStyle/>
          <a:p>
            <a:pPr algn="r">
              <a:spcAft>
                <a:spcPts val="200"/>
              </a:spcAft>
              <a:defRPr sz="720" b="0">
                <a:solidFill>
                  <a:srgbClr val="B8CAE0"/>
                </a:solidFill>
                <a:latin typeface="Aptos"/>
              </a:defRPr>
            </a:pPr>
            <a:r>
              <a:t>Repository status: initial platform; HTTP execution adapter + explicit mock fallback</a:t>
            </a:r>
          </a:p>
        </p:txBody>
      </p:sp>
      <p:sp>
        <p:nvSpPr>
          <p:cNvPr id="18" name="TextBox 17"/>
          <p:cNvSpPr txBox="1"/>
          <p:nvPr/>
        </p:nvSpPr>
        <p:spPr>
          <a:xfrm>
            <a:off x="11356848" y="6501384"/>
            <a:ext cx="274320" cy="182880"/>
          </a:xfrm>
          <a:prstGeom prst="rect">
            <a:avLst/>
          </a:prstGeom>
          <a:noFill/>
        </p:spPr>
        <p:txBody>
          <a:bodyPr wrap="square" lIns="27432" rIns="27432" tIns="27432" bIns="27432" anchor="t">
            <a:spAutoFit/>
          </a:bodyPr>
          <a:lstStyle/>
          <a:p>
            <a:pPr algn="r">
              <a:spcAft>
                <a:spcPts val="200"/>
              </a:spcAft>
              <a:defRPr sz="800" b="1">
                <a:solidFill>
                  <a:srgbClr val="B8CAE0"/>
                </a:solidFill>
                <a:latin typeface="Apto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TextBox 1"/>
          <p:cNvSpPr txBox="1"/>
          <p:nvPr/>
        </p:nvSpPr>
        <p:spPr>
          <a:xfrm>
            <a:off x="566928" y="310896"/>
            <a:ext cx="4114800" cy="228600"/>
          </a:xfrm>
          <a:prstGeom prst="rect">
            <a:avLst/>
          </a:prstGeom>
          <a:noFill/>
        </p:spPr>
        <p:txBody>
          <a:bodyPr wrap="square" lIns="27432" rIns="27432" tIns="27432" bIns="27432" anchor="t">
            <a:spAutoFit/>
          </a:bodyPr>
          <a:lstStyle/>
          <a:p>
            <a:pPr algn="l">
              <a:spcAft>
                <a:spcPts val="200"/>
              </a:spcAft>
              <a:defRPr sz="900" b="1">
                <a:solidFill>
                  <a:srgbClr val="3077DD"/>
                </a:solidFill>
                <a:latin typeface="Aptos"/>
              </a:defRPr>
            </a:pPr>
            <a:r>
              <a:t>TECHNICAL GLOSSARY + SOURCES</a:t>
            </a:r>
          </a:p>
        </p:txBody>
      </p:sp>
      <p:sp>
        <p:nvSpPr>
          <p:cNvPr id="3" name="TextBox 2"/>
          <p:cNvSpPr txBox="1"/>
          <p:nvPr/>
        </p:nvSpPr>
        <p:spPr>
          <a:xfrm>
            <a:off x="566928" y="594360"/>
            <a:ext cx="10881360" cy="502920"/>
          </a:xfrm>
          <a:prstGeom prst="rect">
            <a:avLst/>
          </a:prstGeom>
          <a:noFill/>
        </p:spPr>
        <p:txBody>
          <a:bodyPr wrap="square" lIns="27432" rIns="27432" tIns="27432" bIns="27432" anchor="t">
            <a:spAutoFit/>
          </a:bodyPr>
          <a:lstStyle/>
          <a:p>
            <a:pPr algn="l">
              <a:spcAft>
                <a:spcPts val="200"/>
              </a:spcAft>
              <a:defRPr sz="2600" b="1">
                <a:solidFill>
                  <a:srgbClr val="121F34"/>
                </a:solidFill>
                <a:latin typeface="Aptos"/>
              </a:defRPr>
            </a:pPr>
            <a:r>
              <a:t>Terms used in the architecture</a:t>
            </a:r>
          </a:p>
        </p:txBody>
      </p:sp>
      <p:sp>
        <p:nvSpPr>
          <p:cNvPr id="4" name="TextBox 3"/>
          <p:cNvSpPr txBox="1"/>
          <p:nvPr/>
        </p:nvSpPr>
        <p:spPr>
          <a:xfrm>
            <a:off x="594360" y="1143000"/>
            <a:ext cx="10881360" cy="329184"/>
          </a:xfrm>
          <a:prstGeom prst="rect">
            <a:avLst/>
          </a:prstGeom>
          <a:noFill/>
        </p:spPr>
        <p:txBody>
          <a:bodyPr wrap="square" lIns="27432" rIns="27432" tIns="27432" bIns="27432" anchor="t">
            <a:spAutoFit/>
          </a:bodyPr>
          <a:lstStyle/>
          <a:p>
            <a:pPr algn="l">
              <a:spcAft>
                <a:spcPts val="200"/>
              </a:spcAft>
              <a:defRPr sz="1200" b="0">
                <a:solidFill>
                  <a:srgbClr val="60748C"/>
                </a:solidFill>
                <a:latin typeface="Aptos"/>
              </a:defRPr>
            </a:pPr>
            <a:r>
              <a:t>Keep this slide available after the five-minute narrative.</a:t>
            </a:r>
          </a:p>
        </p:txBody>
      </p:sp>
      <p:sp>
        <p:nvSpPr>
          <p:cNvPr id="5" name="TextBox 4"/>
          <p:cNvSpPr txBox="1"/>
          <p:nvPr/>
        </p:nvSpPr>
        <p:spPr>
          <a:xfrm>
            <a:off x="713232" y="1627632"/>
            <a:ext cx="1325880" cy="210312"/>
          </a:xfrm>
          <a:prstGeom prst="rect">
            <a:avLst/>
          </a:prstGeom>
          <a:noFill/>
        </p:spPr>
        <p:txBody>
          <a:bodyPr wrap="square" lIns="27432" rIns="27432" tIns="27432" bIns="27432" anchor="t">
            <a:spAutoFit/>
          </a:bodyPr>
          <a:lstStyle/>
          <a:p>
            <a:pPr algn="l">
              <a:spcAft>
                <a:spcPts val="200"/>
              </a:spcAft>
              <a:defRPr sz="1150" b="1">
                <a:solidFill>
                  <a:srgbClr val="3077DD"/>
                </a:solidFill>
                <a:latin typeface="Aptos"/>
              </a:defRPr>
            </a:pPr>
            <a:r>
              <a:t>Embedding</a:t>
            </a:r>
          </a:p>
        </p:txBody>
      </p:sp>
      <p:sp>
        <p:nvSpPr>
          <p:cNvPr id="6" name="TextBox 5"/>
          <p:cNvSpPr txBox="1"/>
          <p:nvPr/>
        </p:nvSpPr>
        <p:spPr>
          <a:xfrm>
            <a:off x="2148840" y="1627632"/>
            <a:ext cx="3840480" cy="347472"/>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Vector representation of text; semantic proximity becomes searchable.</a:t>
            </a:r>
          </a:p>
        </p:txBody>
      </p:sp>
      <p:sp>
        <p:nvSpPr>
          <p:cNvPr id="7" name="TextBox 6"/>
          <p:cNvSpPr txBox="1"/>
          <p:nvPr/>
        </p:nvSpPr>
        <p:spPr>
          <a:xfrm>
            <a:off x="713232" y="2157984"/>
            <a:ext cx="1325880" cy="210312"/>
          </a:xfrm>
          <a:prstGeom prst="rect">
            <a:avLst/>
          </a:prstGeom>
          <a:noFill/>
        </p:spPr>
        <p:txBody>
          <a:bodyPr wrap="square" lIns="27432" rIns="27432" tIns="27432" bIns="27432" anchor="t">
            <a:spAutoFit/>
          </a:bodyPr>
          <a:lstStyle/>
          <a:p>
            <a:pPr algn="l">
              <a:spcAft>
                <a:spcPts val="200"/>
              </a:spcAft>
              <a:defRPr sz="1150" b="1">
                <a:solidFill>
                  <a:srgbClr val="3077DD"/>
                </a:solidFill>
                <a:latin typeface="Aptos"/>
              </a:defRPr>
            </a:pPr>
            <a:r>
              <a:t>ANN</a:t>
            </a:r>
          </a:p>
        </p:txBody>
      </p:sp>
      <p:sp>
        <p:nvSpPr>
          <p:cNvPr id="8" name="TextBox 7"/>
          <p:cNvSpPr txBox="1"/>
          <p:nvPr/>
        </p:nvSpPr>
        <p:spPr>
          <a:xfrm>
            <a:off x="2148840" y="2157984"/>
            <a:ext cx="3840480" cy="347472"/>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Approximate nearest neighbor search; trades a small amount of recall for speed.</a:t>
            </a:r>
          </a:p>
        </p:txBody>
      </p:sp>
      <p:sp>
        <p:nvSpPr>
          <p:cNvPr id="9" name="TextBox 8"/>
          <p:cNvSpPr txBox="1"/>
          <p:nvPr/>
        </p:nvSpPr>
        <p:spPr>
          <a:xfrm>
            <a:off x="713232" y="2688336"/>
            <a:ext cx="1325880" cy="210312"/>
          </a:xfrm>
          <a:prstGeom prst="rect">
            <a:avLst/>
          </a:prstGeom>
          <a:noFill/>
        </p:spPr>
        <p:txBody>
          <a:bodyPr wrap="square" lIns="27432" rIns="27432" tIns="27432" bIns="27432" anchor="t">
            <a:spAutoFit/>
          </a:bodyPr>
          <a:lstStyle/>
          <a:p>
            <a:pPr algn="l">
              <a:spcAft>
                <a:spcPts val="200"/>
              </a:spcAft>
              <a:defRPr sz="1150" b="1">
                <a:solidFill>
                  <a:srgbClr val="3077DD"/>
                </a:solidFill>
                <a:latin typeface="Aptos"/>
              </a:defRPr>
            </a:pPr>
            <a:r>
              <a:t>FAISS</a:t>
            </a:r>
          </a:p>
        </p:txBody>
      </p:sp>
      <p:sp>
        <p:nvSpPr>
          <p:cNvPr id="10" name="TextBox 9"/>
          <p:cNvSpPr txBox="1"/>
          <p:nvPr/>
        </p:nvSpPr>
        <p:spPr>
          <a:xfrm>
            <a:off x="2148840" y="2688336"/>
            <a:ext cx="3840480" cy="347472"/>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Vector similarity-search library; current PoC uses exact IndexFlatIP.</a:t>
            </a:r>
          </a:p>
        </p:txBody>
      </p:sp>
      <p:sp>
        <p:nvSpPr>
          <p:cNvPr id="11" name="TextBox 10"/>
          <p:cNvSpPr txBox="1"/>
          <p:nvPr/>
        </p:nvSpPr>
        <p:spPr>
          <a:xfrm>
            <a:off x="713232" y="3218688"/>
            <a:ext cx="1325880" cy="210312"/>
          </a:xfrm>
          <a:prstGeom prst="rect">
            <a:avLst/>
          </a:prstGeom>
          <a:noFill/>
        </p:spPr>
        <p:txBody>
          <a:bodyPr wrap="square" lIns="27432" rIns="27432" tIns="27432" bIns="27432" anchor="t">
            <a:spAutoFit/>
          </a:bodyPr>
          <a:lstStyle/>
          <a:p>
            <a:pPr algn="l">
              <a:spcAft>
                <a:spcPts val="200"/>
              </a:spcAft>
              <a:defRPr sz="1150" b="1">
                <a:solidFill>
                  <a:srgbClr val="3077DD"/>
                </a:solidFill>
                <a:latin typeface="Aptos"/>
              </a:defRPr>
            </a:pPr>
            <a:r>
              <a:t>Reranker</a:t>
            </a:r>
          </a:p>
        </p:txBody>
      </p:sp>
      <p:sp>
        <p:nvSpPr>
          <p:cNvPr id="12" name="TextBox 11"/>
          <p:cNvSpPr txBox="1"/>
          <p:nvPr/>
        </p:nvSpPr>
        <p:spPr>
          <a:xfrm>
            <a:off x="2148840" y="3218688"/>
            <a:ext cx="3840480" cy="347472"/>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Second-stage model that scores a small candidate set with richer context.</a:t>
            </a:r>
          </a:p>
        </p:txBody>
      </p:sp>
      <p:sp>
        <p:nvSpPr>
          <p:cNvPr id="13" name="TextBox 12"/>
          <p:cNvSpPr txBox="1"/>
          <p:nvPr/>
        </p:nvSpPr>
        <p:spPr>
          <a:xfrm>
            <a:off x="713232" y="3749039"/>
            <a:ext cx="1325880" cy="210312"/>
          </a:xfrm>
          <a:prstGeom prst="rect">
            <a:avLst/>
          </a:prstGeom>
          <a:noFill/>
        </p:spPr>
        <p:txBody>
          <a:bodyPr wrap="square" lIns="27432" rIns="27432" tIns="27432" bIns="27432" anchor="t">
            <a:spAutoFit/>
          </a:bodyPr>
          <a:lstStyle/>
          <a:p>
            <a:pPr algn="l">
              <a:spcAft>
                <a:spcPts val="200"/>
              </a:spcAft>
              <a:defRPr sz="1150" b="1">
                <a:solidFill>
                  <a:srgbClr val="3077DD"/>
                </a:solidFill>
                <a:latin typeface="Aptos"/>
              </a:defRPr>
            </a:pPr>
            <a:r>
              <a:t>Abstention</a:t>
            </a:r>
          </a:p>
        </p:txBody>
      </p:sp>
      <p:sp>
        <p:nvSpPr>
          <p:cNvPr id="14" name="TextBox 13"/>
          <p:cNvSpPr txBox="1"/>
          <p:nvPr/>
        </p:nvSpPr>
        <p:spPr>
          <a:xfrm>
            <a:off x="2148840" y="3749039"/>
            <a:ext cx="3840480" cy="347472"/>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Router declines or asks for clarification when confidence is insufficient.</a:t>
            </a:r>
          </a:p>
        </p:txBody>
      </p:sp>
      <p:sp>
        <p:nvSpPr>
          <p:cNvPr id="15" name="TextBox 14"/>
          <p:cNvSpPr txBox="1"/>
          <p:nvPr/>
        </p:nvSpPr>
        <p:spPr>
          <a:xfrm>
            <a:off x="713232" y="4279392"/>
            <a:ext cx="1325880" cy="210312"/>
          </a:xfrm>
          <a:prstGeom prst="rect">
            <a:avLst/>
          </a:prstGeom>
          <a:noFill/>
        </p:spPr>
        <p:txBody>
          <a:bodyPr wrap="square" lIns="27432" rIns="27432" tIns="27432" bIns="27432" anchor="t">
            <a:spAutoFit/>
          </a:bodyPr>
          <a:lstStyle/>
          <a:p>
            <a:pPr algn="l">
              <a:spcAft>
                <a:spcPts val="200"/>
              </a:spcAft>
              <a:defRPr sz="1150" b="1">
                <a:solidFill>
                  <a:srgbClr val="3077DD"/>
                </a:solidFill>
                <a:latin typeface="Aptos"/>
              </a:defRPr>
            </a:pPr>
            <a:r>
              <a:t>Recall@K</a:t>
            </a:r>
          </a:p>
        </p:txBody>
      </p:sp>
      <p:sp>
        <p:nvSpPr>
          <p:cNvPr id="16" name="TextBox 15"/>
          <p:cNvSpPr txBox="1"/>
          <p:nvPr/>
        </p:nvSpPr>
        <p:spPr>
          <a:xfrm>
            <a:off x="2148840" y="4279392"/>
            <a:ext cx="3840480" cy="347472"/>
          </a:xfrm>
          <a:prstGeom prst="rect">
            <a:avLst/>
          </a:prstGeom>
          <a:noFill/>
        </p:spPr>
        <p:txBody>
          <a:bodyPr wrap="square" lIns="27432" rIns="27432" tIns="27432" bIns="27432" anchor="t">
            <a:spAutoFit/>
          </a:bodyPr>
          <a:lstStyle/>
          <a:p>
            <a:pPr algn="l">
              <a:spcAft>
                <a:spcPts val="200"/>
              </a:spcAft>
              <a:defRPr sz="1100" b="0">
                <a:solidFill>
                  <a:srgbClr val="203047"/>
                </a:solidFill>
                <a:latin typeface="Aptos"/>
              </a:defRPr>
            </a:pPr>
            <a:r>
              <a:t>Fraction of correct agents present in the first K retrieved candidates.</a:t>
            </a:r>
          </a:p>
        </p:txBody>
      </p:sp>
      <p:sp>
        <p:nvSpPr>
          <p:cNvPr id="17" name="Rounded Rectangle 16"/>
          <p:cNvSpPr/>
          <p:nvPr/>
        </p:nvSpPr>
        <p:spPr>
          <a:xfrm>
            <a:off x="6400800" y="1627632"/>
            <a:ext cx="5102352" cy="3840480"/>
          </a:xfrm>
          <a:prstGeom prst="roundRect">
            <a:avLst>
              <a:gd name="adj" fmla="val 12000"/>
            </a:avLst>
          </a:prstGeom>
          <a:solidFill>
            <a:srgbClr val="FFFFFF"/>
          </a:solidFill>
          <a:ln w="12700">
            <a:solidFill>
              <a:srgbClr val="CCD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1856231"/>
            <a:ext cx="2286000" cy="228600"/>
          </a:xfrm>
          <a:prstGeom prst="rect">
            <a:avLst/>
          </a:prstGeom>
          <a:noFill/>
        </p:spPr>
        <p:txBody>
          <a:bodyPr wrap="square" lIns="27432" rIns="27432" tIns="27432" bIns="27432" anchor="t">
            <a:spAutoFit/>
          </a:bodyPr>
          <a:lstStyle/>
          <a:p>
            <a:pPr algn="l">
              <a:spcAft>
                <a:spcPts val="200"/>
              </a:spcAft>
              <a:defRPr sz="1400" b="1">
                <a:solidFill>
                  <a:srgbClr val="121F34"/>
                </a:solidFill>
                <a:latin typeface="Aptos"/>
              </a:defRPr>
            </a:pPr>
            <a:r>
              <a:t>Research anchors</a:t>
            </a:r>
          </a:p>
        </p:txBody>
      </p:sp>
      <p:sp>
        <p:nvSpPr>
          <p:cNvPr id="19" name="Oval 18"/>
          <p:cNvSpPr/>
          <p:nvPr/>
        </p:nvSpPr>
        <p:spPr>
          <a:xfrm>
            <a:off x="6675120" y="2350008"/>
            <a:ext cx="73152" cy="73152"/>
          </a:xfrm>
          <a:prstGeom prst="ellipse">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76288" y="2304288"/>
            <a:ext cx="4251960" cy="502920"/>
          </a:xfrm>
          <a:prstGeom prst="rect">
            <a:avLst/>
          </a:prstGeom>
          <a:noFill/>
        </p:spPr>
        <p:txBody>
          <a:bodyPr wrap="square" lIns="27432" rIns="27432" tIns="27432" bIns="27432" anchor="t">
            <a:spAutoFit/>
          </a:bodyPr>
          <a:lstStyle/>
          <a:p>
            <a:pPr algn="l">
              <a:spcAft>
                <a:spcPts val="200"/>
              </a:spcAft>
              <a:defRPr sz="1050" b="0">
                <a:solidFill>
                  <a:srgbClr val="203047"/>
                </a:solidFill>
                <a:latin typeface="Aptos"/>
              </a:defRPr>
            </a:pPr>
            <a:r>
              <a:t>FAISS official indexes + guidelines</a:t>
            </a:r>
          </a:p>
          <a:p>
            <a:pPr algn="l">
              <a:spcAft>
                <a:spcPts val="200"/>
              </a:spcAft>
              <a:defRPr sz="1050" b="0">
                <a:solidFill>
                  <a:srgbClr val="203047"/>
                </a:solidFill>
                <a:latin typeface="Aptos"/>
              </a:defRPr>
            </a:pPr>
            <a:r>
              <a:t>https://github.com/facebookresearch/faiss/wiki/Faiss-indexes</a:t>
            </a:r>
          </a:p>
        </p:txBody>
      </p:sp>
      <p:sp>
        <p:nvSpPr>
          <p:cNvPr id="21" name="Oval 20"/>
          <p:cNvSpPr/>
          <p:nvPr/>
        </p:nvSpPr>
        <p:spPr>
          <a:xfrm>
            <a:off x="6675120" y="2944368"/>
            <a:ext cx="73152" cy="73152"/>
          </a:xfrm>
          <a:prstGeom prst="ellipse">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76288" y="2898648"/>
            <a:ext cx="4251960" cy="502920"/>
          </a:xfrm>
          <a:prstGeom prst="rect">
            <a:avLst/>
          </a:prstGeom>
          <a:noFill/>
        </p:spPr>
        <p:txBody>
          <a:bodyPr wrap="square" lIns="27432" rIns="27432" tIns="27432" bIns="27432" anchor="t">
            <a:spAutoFit/>
          </a:bodyPr>
          <a:lstStyle/>
          <a:p>
            <a:pPr algn="l">
              <a:spcAft>
                <a:spcPts val="200"/>
              </a:spcAft>
              <a:defRPr sz="1050" b="0">
                <a:solidFill>
                  <a:srgbClr val="203047"/>
                </a:solidFill>
                <a:latin typeface="Aptos"/>
              </a:defRPr>
            </a:pPr>
            <a:r>
              <a:t>Two-stage retrieval / reranking</a:t>
            </a:r>
          </a:p>
          <a:p>
            <a:pPr algn="l">
              <a:spcAft>
                <a:spcPts val="200"/>
              </a:spcAft>
              <a:defRPr sz="1050" b="0">
                <a:solidFill>
                  <a:srgbClr val="203047"/>
                </a:solidFill>
                <a:latin typeface="Aptos"/>
              </a:defRPr>
            </a:pPr>
            <a:r>
              <a:t>https://arxiv.org/abs/2212.06121</a:t>
            </a:r>
          </a:p>
          <a:p>
            <a:pPr algn="l">
              <a:spcAft>
                <a:spcPts val="200"/>
              </a:spcAft>
              <a:defRPr sz="1050" b="0">
                <a:solidFill>
                  <a:srgbClr val="203047"/>
                </a:solidFill>
                <a:latin typeface="Aptos"/>
              </a:defRPr>
            </a:pPr>
            <a:r>
              <a:t>https://arxiv.org/abs/2205.10569</a:t>
            </a:r>
          </a:p>
        </p:txBody>
      </p:sp>
      <p:sp>
        <p:nvSpPr>
          <p:cNvPr id="23" name="Oval 22"/>
          <p:cNvSpPr/>
          <p:nvPr/>
        </p:nvSpPr>
        <p:spPr>
          <a:xfrm>
            <a:off x="6675120" y="3538727"/>
            <a:ext cx="73152" cy="73152"/>
          </a:xfrm>
          <a:prstGeom prst="ellipse">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76288" y="3493008"/>
            <a:ext cx="4251960" cy="502920"/>
          </a:xfrm>
          <a:prstGeom prst="rect">
            <a:avLst/>
          </a:prstGeom>
          <a:noFill/>
        </p:spPr>
        <p:txBody>
          <a:bodyPr wrap="square" lIns="27432" rIns="27432" tIns="27432" bIns="27432" anchor="t">
            <a:spAutoFit/>
          </a:bodyPr>
          <a:lstStyle/>
          <a:p>
            <a:pPr algn="l">
              <a:spcAft>
                <a:spcPts val="200"/>
              </a:spcAft>
              <a:defRPr sz="1050" b="0">
                <a:solidFill>
                  <a:srgbClr val="203047"/>
                </a:solidFill>
                <a:latin typeface="Aptos"/>
              </a:defRPr>
            </a:pPr>
            <a:r>
              <a:t>Jev public architecture</a:t>
            </a:r>
          </a:p>
          <a:p>
            <a:pPr algn="l">
              <a:spcAft>
                <a:spcPts val="200"/>
              </a:spcAft>
              <a:defRPr sz="1050" b="0">
                <a:solidFill>
                  <a:srgbClr val="203047"/>
                </a:solidFill>
                <a:latin typeface="Aptos"/>
              </a:defRPr>
            </a:pPr>
            <a:r>
              <a:t>https://www.jevtypesafeai.com/jev/architecture</a:t>
            </a:r>
          </a:p>
        </p:txBody>
      </p:sp>
      <p:sp>
        <p:nvSpPr>
          <p:cNvPr id="25" name="Oval 24"/>
          <p:cNvSpPr/>
          <p:nvPr/>
        </p:nvSpPr>
        <p:spPr>
          <a:xfrm>
            <a:off x="6675120" y="4133087"/>
            <a:ext cx="73152" cy="73152"/>
          </a:xfrm>
          <a:prstGeom prst="ellipse">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76288" y="4087368"/>
            <a:ext cx="4251960" cy="502920"/>
          </a:xfrm>
          <a:prstGeom prst="rect">
            <a:avLst/>
          </a:prstGeom>
          <a:noFill/>
        </p:spPr>
        <p:txBody>
          <a:bodyPr wrap="square" lIns="27432" rIns="27432" tIns="27432" bIns="27432" anchor="t">
            <a:spAutoFit/>
          </a:bodyPr>
          <a:lstStyle/>
          <a:p>
            <a:pPr algn="l">
              <a:spcAft>
                <a:spcPts val="200"/>
              </a:spcAft>
              <a:defRPr sz="1050" b="0">
                <a:solidFill>
                  <a:srgbClr val="203047"/>
                </a:solidFill>
                <a:latin typeface="Aptos"/>
              </a:defRPr>
            </a:pPr>
            <a:r>
              <a:t>Nebius embeddings API</a:t>
            </a:r>
          </a:p>
          <a:p>
            <a:pPr algn="l">
              <a:spcAft>
                <a:spcPts val="200"/>
              </a:spcAft>
              <a:defRPr sz="1050" b="0">
                <a:solidFill>
                  <a:srgbClr val="203047"/>
                </a:solidFill>
                <a:latin typeface="Aptos"/>
              </a:defRPr>
            </a:pPr>
            <a:r>
              <a:t>https://docs.tokenfactory.nebius.com/api-reference/examples/create-embeddings</a:t>
            </a:r>
          </a:p>
        </p:txBody>
      </p:sp>
      <p:sp>
        <p:nvSpPr>
          <p:cNvPr id="27" name="Oval 26"/>
          <p:cNvSpPr/>
          <p:nvPr/>
        </p:nvSpPr>
        <p:spPr>
          <a:xfrm>
            <a:off x="6675120" y="4727448"/>
            <a:ext cx="73152" cy="73152"/>
          </a:xfrm>
          <a:prstGeom prst="ellipse">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76288" y="4681728"/>
            <a:ext cx="4251960" cy="502920"/>
          </a:xfrm>
          <a:prstGeom prst="rect">
            <a:avLst/>
          </a:prstGeom>
          <a:noFill/>
        </p:spPr>
        <p:txBody>
          <a:bodyPr wrap="square" lIns="27432" rIns="27432" tIns="27432" bIns="27432" anchor="t">
            <a:spAutoFit/>
          </a:bodyPr>
          <a:lstStyle/>
          <a:p>
            <a:pPr algn="l">
              <a:spcAft>
                <a:spcPts val="200"/>
              </a:spcAft>
              <a:defRPr sz="1050" b="0">
                <a:solidFill>
                  <a:srgbClr val="203047"/>
                </a:solidFill>
                <a:latin typeface="Aptos"/>
              </a:defRPr>
            </a:pPr>
            <a:r>
              <a:t>Repository source</a:t>
            </a:r>
          </a:p>
          <a:p>
            <a:pPr algn="l">
              <a:spcAft>
                <a:spcPts val="200"/>
              </a:spcAft>
              <a:defRPr sz="1050" b="0">
                <a:solidFill>
                  <a:srgbClr val="203047"/>
                </a:solidFill>
                <a:latin typeface="Aptos"/>
              </a:defRPr>
            </a:pPr>
            <a:r>
              <a:t>sample_agent_router_dataset.json</a:t>
            </a:r>
          </a:p>
          <a:p>
            <a:pPr algn="l">
              <a:spcAft>
                <a:spcPts val="200"/>
              </a:spcAft>
              <a:defRPr sz="1050" b="0">
                <a:solidFill>
                  <a:srgbClr val="203047"/>
                </a:solidFill>
                <a:latin typeface="Aptos"/>
              </a:defRPr>
            </a:pPr>
            <a:r>
              <a:t>centri/routing · centri/index · centri/gateway</a:t>
            </a:r>
          </a:p>
        </p:txBody>
      </p:sp>
      <p:sp>
        <p:nvSpPr>
          <p:cNvPr id="29" name="Rounded Rectangle 28"/>
          <p:cNvSpPr/>
          <p:nvPr/>
        </p:nvSpPr>
        <p:spPr>
          <a:xfrm>
            <a:off x="713232" y="5468112"/>
            <a:ext cx="10789920" cy="548640"/>
          </a:xfrm>
          <a:prstGeom prst="roundRect">
            <a:avLst>
              <a:gd name="adj" fmla="val 12000"/>
            </a:avLst>
          </a:prstGeom>
          <a:solidFill>
            <a:srgbClr val="FFF4D3"/>
          </a:solidFill>
          <a:ln w="12700">
            <a:solidFill>
              <a:srgbClr val="BE73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641848"/>
            <a:ext cx="10287000" cy="201168"/>
          </a:xfrm>
          <a:prstGeom prst="rect">
            <a:avLst/>
          </a:prstGeom>
          <a:noFill/>
        </p:spPr>
        <p:txBody>
          <a:bodyPr wrap="square" lIns="27432" rIns="27432" tIns="27432" bIns="27432" anchor="t">
            <a:spAutoFit/>
          </a:bodyPr>
          <a:lstStyle/>
          <a:p>
            <a:pPr algn="ctr">
              <a:spcAft>
                <a:spcPts val="200"/>
              </a:spcAft>
              <a:defRPr sz="1300" b="1">
                <a:solidFill>
                  <a:srgbClr val="BE730C"/>
                </a:solidFill>
                <a:latin typeface="Aptos"/>
              </a:defRPr>
            </a:pPr>
            <a:r>
              <a:t>Evidence discipline: CentRI is a strong architecture hypothesis; superiority must be established with a reproducible benchmark.</a:t>
            </a:r>
          </a:p>
        </p:txBody>
      </p:sp>
      <p:cxnSp>
        <p:nvCxnSpPr>
          <p:cNvPr id="31" name="Connector 30"/>
          <p:cNvCxnSpPr/>
          <p:nvPr/>
        </p:nvCxnSpPr>
        <p:spPr>
          <a:xfrm>
            <a:off x="566928" y="6473952"/>
            <a:ext cx="11045952" cy="0"/>
          </a:xfrm>
          <a:prstGeom prst="line">
            <a:avLst/>
          </a:prstGeom>
          <a:ln>
            <a:solidFill>
              <a:srgbClr val="CCD8E5"/>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94360" y="6528816"/>
            <a:ext cx="4754880" cy="164592"/>
          </a:xfrm>
          <a:prstGeom prst="rect">
            <a:avLst/>
          </a:prstGeom>
          <a:noFill/>
        </p:spPr>
        <p:txBody>
          <a:bodyPr wrap="square" lIns="27432" rIns="27432" tIns="27432" bIns="27432" anchor="t">
            <a:spAutoFit/>
          </a:bodyPr>
          <a:lstStyle/>
          <a:p>
            <a:pPr algn="l">
              <a:spcAft>
                <a:spcPts val="200"/>
              </a:spcAft>
              <a:defRPr sz="750" b="1">
                <a:solidFill>
                  <a:srgbClr val="60748C"/>
                </a:solidFill>
                <a:latin typeface="Aptos"/>
              </a:defRPr>
            </a:pPr>
            <a:r>
              <a:t>CENTRI  /  CENTRAL ROUTING INTELLIGENCE</a:t>
            </a:r>
          </a:p>
        </p:txBody>
      </p:sp>
      <p:sp>
        <p:nvSpPr>
          <p:cNvPr id="33" name="TextBox 32"/>
          <p:cNvSpPr txBox="1"/>
          <p:nvPr/>
        </p:nvSpPr>
        <p:spPr>
          <a:xfrm>
            <a:off x="5074920" y="6528816"/>
            <a:ext cx="6126480" cy="164592"/>
          </a:xfrm>
          <a:prstGeom prst="rect">
            <a:avLst/>
          </a:prstGeom>
          <a:noFill/>
        </p:spPr>
        <p:txBody>
          <a:bodyPr wrap="square" lIns="27432" rIns="27432" tIns="27432" bIns="27432" anchor="t">
            <a:spAutoFit/>
          </a:bodyPr>
          <a:lstStyle/>
          <a:p>
            <a:pPr algn="r">
              <a:spcAft>
                <a:spcPts val="200"/>
              </a:spcAft>
              <a:defRPr sz="720" b="0">
                <a:solidFill>
                  <a:srgbClr val="60748C"/>
                </a:solidFill>
                <a:latin typeface="Aptos"/>
              </a:defRPr>
            </a:pPr>
            <a:r>
              <a:t>Sources are included for follow-up; claims are intentionally qualified</a:t>
            </a:r>
          </a:p>
        </p:txBody>
      </p:sp>
      <p:sp>
        <p:nvSpPr>
          <p:cNvPr id="34" name="TextBox 33"/>
          <p:cNvSpPr txBox="1"/>
          <p:nvPr/>
        </p:nvSpPr>
        <p:spPr>
          <a:xfrm>
            <a:off x="11356848" y="6501384"/>
            <a:ext cx="274320" cy="182880"/>
          </a:xfrm>
          <a:prstGeom prst="rect">
            <a:avLst/>
          </a:prstGeom>
          <a:noFill/>
        </p:spPr>
        <p:txBody>
          <a:bodyPr wrap="square" lIns="27432" rIns="27432" tIns="27432" bIns="27432" anchor="t">
            <a:spAutoFit/>
          </a:bodyPr>
          <a:lstStyle/>
          <a:p>
            <a:pPr algn="r">
              <a:spcAft>
                <a:spcPts val="200"/>
              </a:spcAft>
              <a:defRPr sz="800" b="1">
                <a:solidFill>
                  <a:srgbClr val="60748C"/>
                </a:solidFill>
                <a:latin typeface="Aptos"/>
              </a:defRPr>
            </a:pPr>
            <a: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