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1C2F4C"/>
          </a:solidFill>
          <a:ln w="12700">
            <a:solidFill>
              <a:srgbClr val="1C2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6949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E0EEFF"/>
                </a:solidFill>
                <a:latin typeface="Aptos"/>
              </a:defRPr>
            </a:pPr>
            <a:r>
              <a:t>CENTRI / CENTRAL ROUTING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713232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One front door.</a:t>
            </a:r>
          </a:p>
          <a:p>
            <a:pPr algn="l">
              <a:spcAft>
                <a:spcPts val="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Thousands of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971800"/>
            <a:ext cx="71323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E0EEFF"/>
                </a:solidFill>
                <a:latin typeface="Aptos"/>
              </a:defRPr>
            </a:pPr>
            <a:r>
              <a:t>A semantic API gateway that compiles agent capability offline, retrieves locally, and uses NVIDIA Nemotron only to resolve ambiguity.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371600"/>
            <a:ext cx="2468880" cy="640080"/>
          </a:xfrm>
          <a:prstGeom prst="roundRect">
            <a:avLst>
              <a:gd name="adj" fmla="val 12000"/>
            </a:avLst>
          </a:prstGeom>
          <a:solidFill>
            <a:srgbClr val="3077DD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1160" y="1581912"/>
            <a:ext cx="2468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USER 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0" y="2057400"/>
            <a:ext cx="0" cy="594360"/>
          </a:xfrm>
          <a:prstGeom prst="line">
            <a:avLst/>
          </a:prstGeom>
          <a:ln w="25400">
            <a:solidFill>
              <a:srgbClr val="E0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81160" y="2697480"/>
            <a:ext cx="2468880" cy="8229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60" y="2889504"/>
            <a:ext cx="2468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CENTRI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ROUTING PLANE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0" y="3611880"/>
            <a:ext cx="0" cy="594360"/>
          </a:xfrm>
          <a:prstGeom prst="line">
            <a:avLst/>
          </a:prstGeom>
          <a:ln w="25400">
            <a:solidFill>
              <a:srgbClr val="E0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60" y="4251960"/>
            <a:ext cx="2468880" cy="640080"/>
          </a:xfrm>
          <a:prstGeom prst="roundRect">
            <a:avLst>
              <a:gd name="adj" fmla="val 12000"/>
            </a:avLst>
          </a:prstGeom>
          <a:solidFill>
            <a:srgbClr val="714AB9"/>
          </a:solidFill>
          <a:ln w="12700">
            <a:solidFill>
              <a:srgbClr val="714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4462272"/>
            <a:ext cx="24688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CORRECT AGENT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669280"/>
            <a:ext cx="7955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2:50 live pitch | Enterprise AI needs a control plane for agent discovery.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>
            <a:solidFill>
              <a:srgbClr val="4B6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750" b="1">
                <a:solidFill>
                  <a:srgbClr val="B8CAE0"/>
                </a:solidFill>
                <a:latin typeface="Aptos"/>
              </a:defRPr>
            </a:pPr>
            <a:r>
              <a:t>CENTRI  /  CENTRAL ROUTING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6528816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720" b="0">
                <a:solidFill>
                  <a:srgbClr val="B8CAE0"/>
                </a:solidFill>
                <a:latin typeface="Aptos"/>
              </a:defRPr>
            </a:pPr>
            <a:r>
              <a:t>Nebius x NVIDIA Global AI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501384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800" b="1">
                <a:solidFill>
                  <a:srgbClr val="B8CAE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3077DD"/>
                </a:solidFill>
                <a:latin typeface="Aptos"/>
              </a:defRPr>
            </a:pPr>
            <a:r>
              <a:t>0:20-0:40 | THE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21F34"/>
                </a:solidFill>
                <a:latin typeface="Aptos"/>
              </a:defRPr>
            </a:pPr>
            <a:r>
              <a:t>Compile once. Retrieve locally. Reason narrowly.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0748C"/>
                </a:solidFill>
                <a:latin typeface="Aptos"/>
              </a:defRPr>
            </a:pPr>
            <a:r>
              <a:t>Three planes keep the runtime decision surface bounded.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3337560" cy="3246120"/>
          </a:xfrm>
          <a:prstGeom prst="roundRect">
            <a:avLst>
              <a:gd name="adj" fmla="val 12000"/>
            </a:avLst>
          </a:prstGeom>
          <a:solidFill>
            <a:srgbClr val="E0EEFF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64008" cy="3246120"/>
          </a:xfrm>
          <a:prstGeom prst="rect">
            <a:avLst/>
          </a:prstGeom>
          <a:solidFill>
            <a:srgbClr val="3077DD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19656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3077DD"/>
                </a:solidFill>
                <a:latin typeface="Aptos"/>
              </a:defRPr>
            </a:pPr>
            <a:r>
              <a:t>1  OFFLINE COMPILATION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94560"/>
            <a:ext cx="3017520" cy="26243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Agent schemas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synthetic queries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contrastive hard negatives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Qwen embeddings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HNSW / FAISS routing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91640"/>
            <a:ext cx="3337560" cy="3246120"/>
          </a:xfrm>
          <a:prstGeom prst="roundRect">
            <a:avLst>
              <a:gd name="adj" fmla="val 12000"/>
            </a:avLst>
          </a:prstGeom>
          <a:solidFill>
            <a:srgbClr val="DCF7F3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25696" y="1691640"/>
            <a:ext cx="64008" cy="3246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819656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2  RUNTIME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194560"/>
            <a:ext cx="3017520" cy="26243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FastAPI gateway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intent shards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local Top-K retrieval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compact routing cards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NVIDIA Nemotron reranking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691640"/>
            <a:ext cx="3337560" cy="3246120"/>
          </a:xfrm>
          <a:prstGeom prst="roundRect">
            <a:avLst>
              <a:gd name="adj" fmla="val 12000"/>
            </a:avLst>
          </a:prstGeom>
          <a:solidFill>
            <a:srgbClr val="EFE9FD"/>
          </a:solidFill>
          <a:ln w="12700">
            <a:solidFill>
              <a:srgbClr val="714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1691640"/>
            <a:ext cx="64008" cy="3246120"/>
          </a:xfrm>
          <a:prstGeom prst="rect">
            <a:avLst/>
          </a:prstGeom>
          <a:solidFill>
            <a:srgbClr val="714AB9"/>
          </a:solidFill>
          <a:ln w="12700">
            <a:solidFill>
              <a:srgbClr val="714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819656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714AB9"/>
                </a:solidFill>
                <a:latin typeface="Aptos"/>
              </a:defRPr>
            </a:pPr>
            <a:r>
              <a:t>3  GOVERNED HANDOFF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194560"/>
            <a:ext cx="3017520" cy="262432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agent_id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HTTP runtime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concurrent execution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approval gates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redacted telemetry</a:t>
            </a:r>
          </a:p>
          <a:p>
            <a:pPr algn="l">
              <a:spcAft>
                <a:spcPts val="200"/>
              </a:spcAft>
              <a:defRPr sz="1500" b="0">
                <a:solidFill>
                  <a:srgbClr val="203047"/>
                </a:solidFill>
                <a:latin typeface="Aptos"/>
              </a:defRPr>
            </a:pPr>
            <a:r>
              <a:t>→ correction vectors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41648" y="3291840"/>
            <a:ext cx="329184" cy="0"/>
          </a:xfrm>
          <a:prstGeom prst="line">
            <a:avLst/>
          </a:prstGeom>
          <a:ln w="25400">
            <a:solidFill>
              <a:srgbClr val="3077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08975" y="3291840"/>
            <a:ext cx="329185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5349240"/>
            <a:ext cx="10195560" cy="594360"/>
          </a:xfrm>
          <a:prstGeom prst="roundRect">
            <a:avLst>
              <a:gd name="adj" fmla="val 12000"/>
            </a:avLst>
          </a:prstGeom>
          <a:solidFill>
            <a:srgbClr val="121F34"/>
          </a:solidFill>
          <a:ln w="12700">
            <a:solidFill>
              <a:srgbClr val="12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541264"/>
            <a:ext cx="9829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Local routing memory + bounded GPU reasoning = scalable semantic discovery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>
            <a:solidFill>
              <a:srgbClr val="CC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750" b="1">
                <a:solidFill>
                  <a:srgbClr val="60748C"/>
                </a:solidFill>
                <a:latin typeface="Aptos"/>
              </a:defRPr>
            </a:pPr>
            <a:r>
              <a:t>CENTRI  /  CENTRAL ROUTING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6528816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720" b="0">
                <a:solidFill>
                  <a:srgbClr val="60748C"/>
                </a:solidFill>
                <a:latin typeface="Aptos"/>
              </a:defRPr>
            </a:pPr>
            <a:r>
              <a:t>FastAPI · HNSW/FAISS · Qwen Embeddings · NVIDIA Nemotron · Nebius · Tavily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56848" y="6501384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800" b="1">
                <a:solidFill>
                  <a:srgbClr val="60748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3077DD"/>
                </a:solidFill>
                <a:latin typeface="Aptos"/>
              </a:defRPr>
            </a:pPr>
            <a:r>
              <a:t>0:40-1:05 | LIVE RENDER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21F34"/>
                </a:solidFill>
                <a:latin typeface="Aptos"/>
              </a:defRPr>
            </a:pPr>
            <a:r>
              <a:t>One public URL, one stable routing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0748C"/>
                </a:solidFill>
                <a:latin typeface="Aptos"/>
              </a:defRPr>
            </a:pPr>
            <a:r>
              <a:t>Postman-ready requests are included in postman_test.txt.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2400" b="1">
                <a:solidFill>
                  <a:srgbClr val="3077DD"/>
                </a:solidFill>
                <a:latin typeface="Aptos"/>
              </a:defRPr>
            </a:pPr>
            <a:r>
              <a:t>https://centri-demo.onrender.com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E0EEFF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514600"/>
            <a:ext cx="64008" cy="1691640"/>
          </a:xfrm>
          <a:prstGeom prst="rect">
            <a:avLst/>
          </a:prstGeom>
          <a:solidFill>
            <a:srgbClr val="3077DD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642616"/>
            <a:ext cx="20116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3077DD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17520"/>
            <a:ext cx="2011679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/health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index loaded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+ test cURLs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54096" y="3364992"/>
            <a:ext cx="274319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56432" y="2514600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DCF7F3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2514600"/>
            <a:ext cx="64008" cy="1691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2642616"/>
            <a:ext cx="20116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3017520"/>
            <a:ext cx="2011679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/route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agent_id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+ candidates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3364992"/>
            <a:ext cx="274319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54496" y="2514600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EFE9FD"/>
          </a:solidFill>
          <a:ln w="12700">
            <a:solidFill>
              <a:srgbClr val="714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2514600"/>
            <a:ext cx="64008" cy="1691640"/>
          </a:xfrm>
          <a:prstGeom prst="rect">
            <a:avLst/>
          </a:prstGeom>
          <a:solidFill>
            <a:srgbClr val="714AB9"/>
          </a:solidFill>
          <a:ln w="12700">
            <a:solidFill>
              <a:srgbClr val="714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2642616"/>
            <a:ext cx="20116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714AB9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3017520"/>
            <a:ext cx="2011679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/chat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agent response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+ approval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50224" y="3364992"/>
            <a:ext cx="274320" cy="0"/>
          </a:xfrm>
          <a:prstGeom prst="line">
            <a:avLst/>
          </a:prstGeom>
          <a:ln w="19050">
            <a:solidFill>
              <a:srgbClr val="60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52560" y="2514600"/>
            <a:ext cx="2331720" cy="1691640"/>
          </a:xfrm>
          <a:prstGeom prst="roundRect">
            <a:avLst>
              <a:gd name="adj" fmla="val 12000"/>
            </a:avLst>
          </a:prstGeom>
          <a:solidFill>
            <a:srgbClr val="E0F7E8"/>
          </a:solidFill>
          <a:ln w="12700">
            <a:solidFill>
              <a:srgbClr val="1B8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514600"/>
            <a:ext cx="64008" cy="1691640"/>
          </a:xfrm>
          <a:prstGeom prst="rect">
            <a:avLst/>
          </a:prstGeom>
          <a:solidFill>
            <a:srgbClr val="1B854A"/>
          </a:solidFill>
          <a:ln w="12700">
            <a:solidFill>
              <a:srgbClr val="1B8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642616"/>
            <a:ext cx="20116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854A"/>
                </a:solidFill>
                <a:latin typeface="Aptos"/>
              </a:defRPr>
            </a:pPr>
            <a:r>
              <a:t>TAVILY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017520"/>
            <a:ext cx="2011679" cy="10698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use_web_search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live sources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+ web_research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800600"/>
            <a:ext cx="10195560" cy="822960"/>
          </a:xfrm>
          <a:prstGeom prst="roundRect">
            <a:avLst>
              <a:gd name="adj" fmla="val 12000"/>
            </a:avLst>
          </a:prstGeom>
          <a:solidFill>
            <a:srgbClr val="121F34"/>
          </a:solidFill>
          <a:ln w="12700">
            <a:solidFill>
              <a:srgbClr val="12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074920"/>
            <a:ext cx="9646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Demo message: CentRI returns the destination agent ID; downstream execution is governed separately.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897880"/>
            <a:ext cx="9966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BE3434"/>
                </a:solidFill>
                <a:latin typeface="Aptos"/>
              </a:defRPr>
            </a:pPr>
            <a:r>
              <a:t>Free Render hosting may cold-start. Call /health first.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>
            <a:solidFill>
              <a:srgbClr val="CC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750" b="1">
                <a:solidFill>
                  <a:srgbClr val="60748C"/>
                </a:solidFill>
                <a:latin typeface="Aptos"/>
              </a:defRPr>
            </a:pPr>
            <a:r>
              <a:t>CENTRI  /  CENTRAL ROUTING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28816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720" b="0">
                <a:solidFill>
                  <a:srgbClr val="60748C"/>
                </a:solidFill>
                <a:latin typeface="Aptos"/>
              </a:defRPr>
            </a:pPr>
            <a:r>
              <a:t>Live demo: centri-demo.onrender.com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6848" y="6501384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800" b="1">
                <a:solidFill>
                  <a:srgbClr val="60748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3077DD"/>
                </a:solidFill>
                <a:latin typeface="Aptos"/>
              </a:defRPr>
            </a:pPr>
            <a:r>
              <a:t>1:05-1:35 | HOW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21F34"/>
                </a:solidFill>
                <a:latin typeface="Aptos"/>
              </a:defRPr>
            </a:pPr>
            <a:r>
              <a:t>Use the live Render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0748C"/>
                </a:solidFill>
                <a:latin typeface="Aptos"/>
              </a:defRPr>
            </a:pPr>
            <a:r>
              <a:t>Postman-ready requests are in postman_test.txt.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3077DD"/>
                </a:solidFill>
                <a:latin typeface="Aptos"/>
              </a:defRPr>
            </a:pPr>
            <a:r>
              <a:t>https://centri-demo.onrender.com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350008"/>
            <a:ext cx="347472" cy="347472"/>
          </a:xfrm>
          <a:prstGeom prst="ellipse">
            <a:avLst/>
          </a:prstGeom>
          <a:solidFill>
            <a:srgbClr val="3077DD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32303"/>
            <a:ext cx="34747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31720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3077DD"/>
                </a:solidFill>
                <a:latin typeface="Aptos"/>
              </a:defRPr>
            </a:pPr>
            <a:r>
              <a:t>Wake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31720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Run GET /health first.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Free Render services may cold-start for about a minute.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71800"/>
            <a:ext cx="347472" cy="3474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54096"/>
            <a:ext cx="34747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53512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53512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Import postman_test.txt into Postman.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Use the Render URL, not localhost.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93592"/>
            <a:ext cx="347472" cy="347472"/>
          </a:xfrm>
          <a:prstGeom prst="ellipse">
            <a:avLst/>
          </a:prstGeom>
          <a:solidFill>
            <a:srgbClr val="714AB9"/>
          </a:solidFill>
          <a:ln w="12700">
            <a:solidFill>
              <a:srgbClr val="714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75888"/>
            <a:ext cx="34747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75304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714AB9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575304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POST /route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Receive agent_id, candidates, confidence.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215383"/>
            <a:ext cx="347472" cy="347472"/>
          </a:xfrm>
          <a:prstGeom prst="ellipse">
            <a:avLst/>
          </a:prstGeom>
          <a:solidFill>
            <a:srgbClr val="1B854A"/>
          </a:solidFill>
          <a:ln w="12700">
            <a:solidFill>
              <a:srgbClr val="1B8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34747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97096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854A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197096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POST /chat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Set approval_granted=true for the demo.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37175"/>
            <a:ext cx="347472" cy="347472"/>
          </a:xfrm>
          <a:prstGeom prst="ellipse">
            <a:avLst/>
          </a:prstGeom>
          <a:solidFill>
            <a:srgbClr val="121F34"/>
          </a:solidFill>
          <a:ln w="12700">
            <a:solidFill>
              <a:srgbClr val="12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1371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18888"/>
            <a:ext cx="12344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21F34"/>
                </a:solidFill>
                <a:latin typeface="Aptos"/>
              </a:defRPr>
            </a:pPr>
            <a:r>
              <a:t>Research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18888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Set use_web_search=true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203047"/>
                </a:solidFill>
                <a:latin typeface="Aptos"/>
              </a:defRPr>
            </a:pPr>
            <a:r>
              <a:t>Verify web_research.status = ok.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532120"/>
            <a:ext cx="10058400" cy="502920"/>
          </a:xfrm>
          <a:prstGeom prst="roundRect">
            <a:avLst>
              <a:gd name="adj" fmla="val 12000"/>
            </a:avLst>
          </a:prstGeom>
          <a:solidFill>
            <a:srgbClr val="DCF7F3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696712"/>
            <a:ext cx="96012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150" b="1">
                <a:solidFill>
                  <a:srgbClr val="0F766E"/>
                </a:solidFill>
                <a:latin typeface="Aptos"/>
              </a:defRPr>
            </a:pPr>
            <a:r>
              <a:t>Expected sample behavior: agent execution may be marked simulated because no public agent runtime is configured.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>
            <a:solidFill>
              <a:srgbClr val="CC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750" b="1">
                <a:solidFill>
                  <a:srgbClr val="60748C"/>
                </a:solidFill>
                <a:latin typeface="Aptos"/>
              </a:defRPr>
            </a:pPr>
            <a:r>
              <a:t>CENTRI  /  CENTRAL ROUTING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6528816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720" b="0">
                <a:solidFill>
                  <a:srgbClr val="60748C"/>
                </a:solidFill>
                <a:latin typeface="Aptos"/>
              </a:defRPr>
            </a:pPr>
            <a:r>
              <a:t>Live demo: centri-demo.onrender.com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56848" y="6501384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800" b="1">
                <a:solidFill>
                  <a:srgbClr val="60748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E0EEFF"/>
                </a:solidFill>
                <a:latin typeface="Aptos"/>
              </a:defRPr>
            </a:pPr>
            <a:r>
              <a:t>1:35-2:25 | SCALE +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t>The model should not see the whole enterprise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BED0E5"/>
                </a:solidFill>
                <a:latin typeface="Aptos"/>
              </a:defRPr>
            </a:pPr>
            <a:r>
              <a:t>CentRI separates catalog size from runtime reasoning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64208"/>
            <a:ext cx="5166360" cy="4023360"/>
          </a:xfrm>
          <a:prstGeom prst="roundRect">
            <a:avLst>
              <a:gd name="adj" fmla="val 12000"/>
            </a:avLst>
          </a:prstGeom>
          <a:solidFill>
            <a:srgbClr val="1C2F4C"/>
          </a:solidFill>
          <a:ln w="12700">
            <a:solidFill>
              <a:srgbClr val="307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BE3434"/>
                </a:solidFill>
                <a:latin typeface="Aptos"/>
              </a:defRPr>
            </a:pPr>
            <a:r>
              <a:t>PROMPT-ALL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44805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C ≈ A × schema_tokens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82112"/>
            <a:ext cx="43891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E0EEFF"/>
                </a:solidFill>
                <a:latin typeface="Aptos"/>
              </a:defRPr>
            </a:pPr>
            <a:r>
              <a:t>Every new agent expands the request-time context, cost, and ambiguity.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33087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DCF7F3"/>
                </a:solidFill>
                <a:latin typeface="Aptos"/>
              </a:defRPr>
            </a:pPr>
            <a:r>
              <a:t>CENTRI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45152"/>
            <a:ext cx="4572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C ≈ query + K × routing_card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230368"/>
            <a:ext cx="45720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DCF7F3"/>
                </a:solidFill>
                <a:latin typeface="Aptos"/>
              </a:defRPr>
            </a:pPr>
            <a:r>
              <a:t>K &lt;&lt; A  |  local HNSW discovery  |  bounded Nemotron GPU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64208"/>
            <a:ext cx="5349240" cy="402336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38528"/>
            <a:ext cx="4297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CAPTURED 20-CASE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14600"/>
            <a:ext cx="12344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99232"/>
            <a:ext cx="2011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DCF7F3"/>
                </a:solidFill>
                <a:latin typeface="Aptos"/>
              </a:defRPr>
            </a:pPr>
            <a:r>
              <a:t>candidate 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514600"/>
            <a:ext cx="12344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999232"/>
            <a:ext cx="2148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DCF7F3"/>
                </a:solidFill>
                <a:latin typeface="Aptos"/>
              </a:defRPr>
            </a:pPr>
            <a:r>
              <a:t>selective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4434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80% coverage  |  3.09s mean  |  5.53s p95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81728"/>
            <a:ext cx="43434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Uncertain cases abstain instead of creating an incorrect handoff.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>
            <a:solidFill>
              <a:srgbClr val="4B65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750" b="1">
                <a:solidFill>
                  <a:srgbClr val="B8CAE0"/>
                </a:solidFill>
                <a:latin typeface="Aptos"/>
              </a:defRPr>
            </a:pPr>
            <a:r>
              <a:t>CENTRI  /  CENTRAL ROUTING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720" b="0">
                <a:solidFill>
                  <a:srgbClr val="B8CAE0"/>
                </a:solidFill>
                <a:latin typeface="Aptos"/>
              </a:defRPr>
            </a:pPr>
            <a:r>
              <a:t>Measured on synthetic golden cases; larger-scale load testing is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6848" y="6501384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800" b="1">
                <a:solidFill>
                  <a:srgbClr val="B8CAE0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3077DD"/>
                </a:solidFill>
                <a:latin typeface="Aptos"/>
              </a:defRPr>
            </a:pPr>
            <a:r>
              <a:t>2:25-2:50 | 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94360"/>
            <a:ext cx="108813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2600" b="1">
                <a:solidFill>
                  <a:srgbClr val="121F34"/>
                </a:solidFill>
                <a:latin typeface="Aptos"/>
              </a:defRPr>
            </a:pPr>
            <a:r>
              <a:t>CentRI turns an agent network into a semantic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43000"/>
            <a:ext cx="10881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0748C"/>
                </a:solidFill>
                <a:latin typeface="Aptos"/>
              </a:defRPr>
            </a:pPr>
            <a:r>
              <a:t>A shared enterprise capability layer with one efficient entry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52760" cy="914400"/>
          </a:xfrm>
          <a:prstGeom prst="roundRect">
            <a:avLst>
              <a:gd name="adj" fmla="val 12000"/>
            </a:avLst>
          </a:prstGeom>
          <a:solidFill>
            <a:srgbClr val="121F34"/>
          </a:solidFill>
          <a:ln w="12700">
            <a:solidFill>
              <a:srgbClr val="12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0149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user request  -&gt;  CentRI  -&gt;  agent_id  -&gt;  authorized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80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3077DD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154680"/>
            <a:ext cx="6309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03047"/>
                </a:solidFill>
                <a:latin typeface="Aptos"/>
              </a:defRPr>
            </a:pPr>
            <a:r>
              <a:t>local semantic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11880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0F766E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611880"/>
            <a:ext cx="6309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03047"/>
                </a:solidFill>
                <a:latin typeface="Aptos"/>
              </a:defRPr>
            </a:pPr>
            <a:r>
              <a:t>bounded Nemotron reranking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714AB9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069080"/>
            <a:ext cx="6309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03047"/>
                </a:solidFill>
                <a:latin typeface="Aptos"/>
              </a:defRPr>
            </a:pPr>
            <a:r>
              <a:t>abstention and approval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26280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B854A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526280"/>
            <a:ext cx="6309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03047"/>
                </a:solidFill>
                <a:latin typeface="Aptos"/>
              </a:defRPr>
            </a:pPr>
            <a:r>
              <a:t>compiled memory and HNSW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80"/>
            <a:ext cx="11887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21F34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983480"/>
            <a:ext cx="63093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203047"/>
                </a:solidFill>
                <a:latin typeface="Aptos"/>
              </a:defRPr>
            </a:pPr>
            <a:r>
              <a:t>approved agents and enterprise resources for authorized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3200400"/>
            <a:ext cx="2057400" cy="1463040"/>
          </a:xfrm>
          <a:prstGeom prst="roundRect">
            <a:avLst>
              <a:gd name="adj" fmla="val 12000"/>
            </a:avLst>
          </a:prstGeom>
          <a:solidFill>
            <a:srgbClr val="DCF7F3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593592"/>
            <a:ext cx="20574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0F766E"/>
                </a:solidFill>
                <a:latin typeface="Aptos"/>
              </a:defRPr>
            </a:pPr>
            <a:r>
              <a:t>Render demo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0F766E"/>
                </a:solidFill>
                <a:latin typeface="Aptos"/>
              </a:defRPr>
            </a:pPr>
            <a:r>
              <a:t>+ Postman</a:t>
            </a:r>
          </a:p>
          <a:p>
            <a:pPr algn="ctr">
              <a:spcAft>
                <a:spcPts val="200"/>
              </a:spcAft>
              <a:defRPr sz="1600" b="1">
                <a:solidFill>
                  <a:srgbClr val="0F766E"/>
                </a:solidFill>
                <a:latin typeface="Aptos"/>
              </a:defRPr>
            </a:pPr>
            <a:r>
              <a:t>+ Tavily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806440"/>
            <a:ext cx="9875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3077DD"/>
                </a:solidFill>
                <a:latin typeface="Aptos"/>
              </a:defRPr>
            </a:pPr>
            <a:r>
              <a:t>https://centri-demo.onrender.com/docs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73952"/>
            <a:ext cx="11045952" cy="0"/>
          </a:xfrm>
          <a:prstGeom prst="line">
            <a:avLst/>
          </a:prstGeom>
          <a:ln>
            <a:solidFill>
              <a:srgbClr val="CC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6528816"/>
            <a:ext cx="47548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200"/>
              </a:spcAft>
              <a:defRPr sz="750" b="1">
                <a:solidFill>
                  <a:srgbClr val="60748C"/>
                </a:solidFill>
                <a:latin typeface="Aptos"/>
              </a:defRPr>
            </a:pPr>
            <a:r>
              <a:t>CENTRI  /  CENTRAL ROUTING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6126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720" b="0">
                <a:solidFill>
                  <a:srgbClr val="60748C"/>
                </a:solidFill>
                <a:latin typeface="Aptos"/>
              </a:defRPr>
            </a:pPr>
            <a:r>
              <a:t>CentRI / Central Routing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6848" y="6501384"/>
            <a:ext cx="2743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200"/>
              </a:spcAft>
              <a:defRPr sz="800" b="1">
                <a:solidFill>
                  <a:srgbClr val="60748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